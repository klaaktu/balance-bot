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2ADEA9-2503-4B3D-89B0-932D19E53B4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57607-B1F8-4584-A604-1B85EC295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54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E37A-C65D-3542-E6C8-35CE61911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207D-212A-C4FB-6AE5-4D5294B7F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9C3AE-D32C-5516-A905-A165DCFF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7641-A320-4EC9-BD5D-C1574B2133A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964A3-D277-E0D0-347E-7C84A1380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1DEB9-7D65-E016-B6C6-A44FAC34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8858-B2AD-48DC-825D-520024DC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0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0266-F818-0A4F-DA21-DBDBCF45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800A5-DDC3-2B47-6903-DB385FA5A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4C900-33F2-79A7-E74B-D0A6CD28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7641-A320-4EC9-BD5D-C1574B2133A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03A7D-3453-2F52-ACCC-A2BFC5C9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FC44D-19A7-DBF4-48BA-888F61AA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8858-B2AD-48DC-825D-520024DC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7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B4C85-DC77-7445-4384-DD1D3B9BF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EF0AF-E14E-4672-653E-3CF494B4B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D3584-2423-6373-E549-251C2138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7641-A320-4EC9-BD5D-C1574B2133A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88A9E-8EE0-289C-8F93-1EA2A4B6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5F43C-5BF5-8245-FF77-D5AD2A07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8858-B2AD-48DC-825D-520024DC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D3E1-662D-5C81-0DB4-F8F995BB2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A1979-2002-2F82-91B8-0A6106C20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55E40-9E41-C928-A43C-E45066DD6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6D0D6-4452-CD31-65F5-5F3594C84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7641-A320-4EC9-BD5D-C1574B2133A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FE7DE-B0AA-C8FE-36B1-9DB91CC1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24BBF-2656-A868-D4A5-6ED57D90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8858-B2AD-48DC-825D-520024DC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6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29B70-1861-D569-71FE-9BAA9EAE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DD0C1-BD72-79AC-F057-2B2FC41F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FE482-68D5-ED04-0C72-598667AD0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F5EDD-5213-BCCC-D106-418308AFBC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6CB48-9CD6-D953-61A3-0C25799C5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75E577-07C2-2A9B-2292-3D053B1D8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7641-A320-4EC9-BD5D-C1574B2133A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134354-A5CE-16FA-FE12-BFD45D836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FD260-0BDC-C463-ED7A-7F4967327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8858-B2AD-48DC-825D-520024DC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2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E3BA5-EB12-8854-A630-8AE61646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445C3-EEFB-C917-5F03-D725F8A5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7641-A320-4EC9-BD5D-C1574B2133A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A7EF4-33D1-505D-7BC0-67B9BFF5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CFF6E-1FAA-5487-0767-5CB3B5C9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8858-B2AD-48DC-825D-520024DC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37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9531-8F16-60FC-BAEE-3249C477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7641-A320-4EC9-BD5D-C1574B2133A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6C2E1-B7BC-99BC-2BE5-55D660D63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26F78-012A-030A-1679-AAB838F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8858-B2AD-48DC-825D-520024DC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30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705C6-6010-F228-357E-06C5C3720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EF12-D527-FB8C-C4CE-E7B2B5C12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5C003-B21F-F0F6-0C6B-F451187B7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478F0-41F5-0C19-7DA0-739A188B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7641-A320-4EC9-BD5D-C1574B2133A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AC9A5-4CBA-5F54-A3E4-73224CD20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93B3C-DFA0-052C-64E8-CA73518F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8858-B2AD-48DC-825D-520024DC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4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D8F3-AF2B-D543-55E7-625E5242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0882C-523D-FFB6-41B2-A4A900AF0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990A4-78C0-0A3C-FA3D-698A39EB0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61342-99C1-D74D-73ED-DFEF4E98D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7641-A320-4EC9-BD5D-C1574B2133A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A5F92-CE0B-9619-A0A4-DD8E40459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59C0D-EA5E-3195-09D6-934151990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8858-B2AD-48DC-825D-520024DC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58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005F-6AF4-7553-162C-C69A78FE2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14E7E-5985-A3A9-B95A-C10B06180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9D107-273A-6354-7DAC-4AF14A19A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7641-A320-4EC9-BD5D-C1574B2133A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A6A21-AB5B-C146-F5B3-A78AC3CA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EB2F0-0EE8-EEA1-8A68-52DA4A995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8858-B2AD-48DC-825D-520024DC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8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03F51-81B1-086B-CE4B-A6D32460C9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5A15E-FB0C-FB5D-C083-93ECF9339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A8F1F-EF86-8662-47C6-BE71C78B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7641-A320-4EC9-BD5D-C1574B2133A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28E35-FD83-22DE-4F45-F2FA4ECE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44505-DA42-5DA1-47D0-2F1CFBB93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8858-B2AD-48DC-825D-520024DC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3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06002-1917-9354-97BA-9B0A12EBE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48949-7489-CCF3-A385-4273ECF2E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76909-6C83-F20B-6B2B-F8F1AC27DD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917641-A320-4EC9-BD5D-C1574B2133A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41BED-6D38-B1FF-035D-40A70CBC3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8B61-23ED-447D-30C1-0FC125719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98858-B2AD-48DC-825D-520024DC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33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10" Type="http://schemas.microsoft.com/office/2007/relationships/hdphoto" Target="../media/hdphoto1.wdp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6507EF-D040-7B1F-A881-6EA15458957B}"/>
              </a:ext>
            </a:extLst>
          </p:cNvPr>
          <p:cNvSpPr txBox="1"/>
          <p:nvPr/>
        </p:nvSpPr>
        <p:spPr>
          <a:xfrm>
            <a:off x="632510" y="1784021"/>
            <a:ext cx="594053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Design a Robot with Balancing Ability and Self-controllability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4DC595-9D27-2EF7-43FE-097487776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542" y="723645"/>
            <a:ext cx="4240197" cy="53002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07FBFD-E238-AEA2-C04A-B9305BE399F2}"/>
              </a:ext>
            </a:extLst>
          </p:cNvPr>
          <p:cNvSpPr txBox="1"/>
          <p:nvPr/>
        </p:nvSpPr>
        <p:spPr>
          <a:xfrm>
            <a:off x="632510" y="4989762"/>
            <a:ext cx="123726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Team</a:t>
            </a:r>
            <a:r>
              <a:rPr lang="en-US" dirty="0"/>
              <a:t>:</a:t>
            </a:r>
          </a:p>
          <a:p>
            <a:pPr algn="r">
              <a:lnSpc>
                <a:spcPct val="40000"/>
              </a:lnSpc>
            </a:pPr>
            <a:endParaRPr lang="en-US" dirty="0"/>
          </a:p>
          <a:p>
            <a:pPr algn="r"/>
            <a:r>
              <a:rPr lang="en-US" b="1" dirty="0"/>
              <a:t>Members</a:t>
            </a:r>
            <a:r>
              <a:rPr lang="en-US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993821-9808-CF23-05AE-810EAC413CF4}"/>
              </a:ext>
            </a:extLst>
          </p:cNvPr>
          <p:cNvSpPr txBox="1"/>
          <p:nvPr/>
        </p:nvSpPr>
        <p:spPr>
          <a:xfrm>
            <a:off x="1869772" y="4989762"/>
            <a:ext cx="4015586" cy="10341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Box3</a:t>
            </a:r>
          </a:p>
          <a:p>
            <a:pPr>
              <a:lnSpc>
                <a:spcPct val="40000"/>
              </a:lnSpc>
            </a:pPr>
            <a:endParaRPr lang="en-US" dirty="0"/>
          </a:p>
          <a:p>
            <a:r>
              <a:rPr lang="en-US" dirty="0"/>
              <a:t>Zhihao Lin (u8175491@anu.edu.au)</a:t>
            </a:r>
          </a:p>
          <a:p>
            <a:r>
              <a:rPr lang="en-US" dirty="0" err="1"/>
              <a:t>Zongjun</a:t>
            </a:r>
            <a:r>
              <a:rPr lang="en-US" dirty="0"/>
              <a:t> Yang (u8463895@anu.edu.au)</a:t>
            </a:r>
          </a:p>
        </p:txBody>
      </p:sp>
    </p:spTree>
    <p:extLst>
      <p:ext uri="{BB962C8B-B14F-4D97-AF65-F5344CB8AC3E}">
        <p14:creationId xmlns:p14="http://schemas.microsoft.com/office/powerpoint/2010/main" val="187008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8827B2-43BD-4BF4-580B-ABFB1811F6D0}"/>
              </a:ext>
            </a:extLst>
          </p:cNvPr>
          <p:cNvSpPr txBox="1"/>
          <p:nvPr/>
        </p:nvSpPr>
        <p:spPr>
          <a:xfrm>
            <a:off x="239338" y="171834"/>
            <a:ext cx="1858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Background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50D91D-03B5-731C-06A6-41EAAE1CF7BE}"/>
              </a:ext>
            </a:extLst>
          </p:cNvPr>
          <p:cNvSpPr txBox="1"/>
          <p:nvPr/>
        </p:nvSpPr>
        <p:spPr>
          <a:xfrm>
            <a:off x="239338" y="4798594"/>
            <a:ext cx="3234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Requirements Review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D3B6ED-6928-2343-4E57-7110378FE23A}"/>
              </a:ext>
            </a:extLst>
          </p:cNvPr>
          <p:cNvGrpSpPr/>
          <p:nvPr/>
        </p:nvGrpSpPr>
        <p:grpSpPr>
          <a:xfrm>
            <a:off x="5943163" y="327943"/>
            <a:ext cx="5637985" cy="4508035"/>
            <a:chOff x="5943163" y="327943"/>
            <a:chExt cx="5637985" cy="450803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64283CE-09B9-822B-7D8D-4AAA64FD1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3163" y="327943"/>
              <a:ext cx="5637985" cy="438492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DCCDB3-0286-688D-CDFA-1FE2058CB63E}"/>
                </a:ext>
              </a:extLst>
            </p:cNvPr>
            <p:cNvSpPr txBox="1"/>
            <p:nvPr/>
          </p:nvSpPr>
          <p:spPr>
            <a:xfrm>
              <a:off x="8150449" y="4589757"/>
              <a:ext cx="1223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Types of robots [2] 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BD1D1BB-B6C4-D5CF-FCA3-1CA4F43B8198}"/>
              </a:ext>
            </a:extLst>
          </p:cNvPr>
          <p:cNvSpPr txBox="1"/>
          <p:nvPr/>
        </p:nvSpPr>
        <p:spPr>
          <a:xfrm>
            <a:off x="1064184" y="5260259"/>
            <a:ext cx="4878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Top-level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 its balanced position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Drift less than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0.5m</a:t>
            </a:r>
            <a:r>
              <a:rPr lang="en-US" dirty="0"/>
              <a:t> 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Recover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° </a:t>
            </a:r>
            <a:r>
              <a:rPr lang="en-US" dirty="0"/>
              <a:t>perturbation within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1D78F5-BD9A-6F44-A9FF-D2C91F975769}"/>
              </a:ext>
            </a:extLst>
          </p:cNvPr>
          <p:cNvSpPr txBox="1"/>
          <p:nvPr/>
        </p:nvSpPr>
        <p:spPr>
          <a:xfrm>
            <a:off x="6248839" y="5260259"/>
            <a:ext cx="48789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Advanced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</a:t>
            </a:r>
            <a:r>
              <a:rPr lang="en-US" dirty="0"/>
              <a:t>ully control its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</a:t>
            </a:r>
            <a:r>
              <a:rPr lang="en-US" dirty="0"/>
              <a:t>ollow a designated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</a:t>
            </a:r>
            <a:r>
              <a:rPr lang="en-US" dirty="0"/>
              <a:t>ynamically adapt to varying environments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B54096F-1FB2-64E1-183B-277245F31FDF}"/>
              </a:ext>
            </a:extLst>
          </p:cNvPr>
          <p:cNvGrpSpPr/>
          <p:nvPr/>
        </p:nvGrpSpPr>
        <p:grpSpPr>
          <a:xfrm>
            <a:off x="1064184" y="791186"/>
            <a:ext cx="4343398" cy="3538345"/>
            <a:chOff x="1064184" y="791186"/>
            <a:chExt cx="4343398" cy="353834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1B051C-790D-84AE-CA61-025A6AFF088D}"/>
                </a:ext>
              </a:extLst>
            </p:cNvPr>
            <p:cNvSpPr txBox="1"/>
            <p:nvPr/>
          </p:nvSpPr>
          <p:spPr>
            <a:xfrm>
              <a:off x="2637802" y="4083310"/>
              <a:ext cx="11961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Industry robots [1]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702F8C5-3A09-B009-60AE-1D0F5E29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184" y="791186"/>
              <a:ext cx="4343398" cy="3257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7671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5D3167-45E5-8B01-60F3-D962826C95E4}"/>
              </a:ext>
            </a:extLst>
          </p:cNvPr>
          <p:cNvSpPr txBox="1"/>
          <p:nvPr/>
        </p:nvSpPr>
        <p:spPr>
          <a:xfrm>
            <a:off x="239338" y="171834"/>
            <a:ext cx="303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87D571-A61D-ACAB-A67F-3C6887C4BD66}"/>
              </a:ext>
            </a:extLst>
          </p:cNvPr>
          <p:cNvSpPr txBox="1"/>
          <p:nvPr/>
        </p:nvSpPr>
        <p:spPr>
          <a:xfrm>
            <a:off x="239338" y="2409384"/>
            <a:ext cx="3561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 Electronic Components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B07DF77-93EF-A2A4-935E-5C5C9FF7DF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7963" y="755680"/>
            <a:ext cx="8860631" cy="18845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4201F5-B7BC-C91D-845F-B7C2F5F4AC6E}"/>
                  </a:ext>
                </a:extLst>
              </p:cNvPr>
              <p:cNvSpPr txBox="1"/>
              <p:nvPr/>
            </p:nvSpPr>
            <p:spPr>
              <a:xfrm>
                <a:off x="513544" y="2985731"/>
                <a:ext cx="414022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MPU-6050 </a:t>
                </a:r>
                <a:r>
                  <a:rPr lang="en-US" altLang="zh-CN" b="1" dirty="0"/>
                  <a:t>IMU</a:t>
                </a:r>
              </a:p>
              <a:p>
                <a:r>
                  <a:rPr lang="en-US" dirty="0"/>
                  <a:t>“The state sensor”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Angular velocity res: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7.6×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Acceleration res: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61×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Communication speed: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400 kHz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4201F5-B7BC-C91D-845F-B7C2F5F4A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44" y="2985731"/>
                <a:ext cx="4140224" cy="1477328"/>
              </a:xfrm>
              <a:prstGeom prst="rect">
                <a:avLst/>
              </a:prstGeom>
              <a:blipFill>
                <a:blip r:embed="rId3"/>
                <a:stretch>
                  <a:fillRect l="-1178" t="-2066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99CAB77-B0FF-BCA8-4DDE-F8FDC2108E82}"/>
              </a:ext>
            </a:extLst>
          </p:cNvPr>
          <p:cNvSpPr txBox="1"/>
          <p:nvPr/>
        </p:nvSpPr>
        <p:spPr>
          <a:xfrm>
            <a:off x="5407706" y="2985731"/>
            <a:ext cx="28264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Arduino UNO</a:t>
            </a:r>
          </a:p>
          <a:p>
            <a:r>
              <a:rPr lang="en-US" dirty="0"/>
              <a:t> “The central processor”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Clocking speed: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Features: I2C, PWM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FFFAD8-DF9E-A8C7-55B2-14CBA58C6A73}"/>
              </a:ext>
            </a:extLst>
          </p:cNvPr>
          <p:cNvSpPr txBox="1"/>
          <p:nvPr/>
        </p:nvSpPr>
        <p:spPr>
          <a:xfrm>
            <a:off x="8988058" y="2985730"/>
            <a:ext cx="29293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L298N motor driver</a:t>
            </a:r>
          </a:p>
          <a:p>
            <a:r>
              <a:rPr lang="en-US" dirty="0"/>
              <a:t>“The action driver”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outpu</a:t>
            </a:r>
            <a:r>
              <a:rPr lang="en-US" altLang="zh-CN" dirty="0"/>
              <a:t>t: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3.2 - 40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Features: PWM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74EF51-47A7-098C-AD02-77AA396B5F3C}"/>
              </a:ext>
            </a:extLst>
          </p:cNvPr>
          <p:cNvSpPr txBox="1"/>
          <p:nvPr/>
        </p:nvSpPr>
        <p:spPr>
          <a:xfrm>
            <a:off x="7633039" y="4654778"/>
            <a:ext cx="27100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Li-ion cell</a:t>
            </a:r>
          </a:p>
          <a:p>
            <a:r>
              <a:rPr lang="en-US" altLang="zh-CN" dirty="0"/>
              <a:t>“The power supply”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Capacity: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800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Nominal voltage: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 V</a:t>
            </a:r>
          </a:p>
        </p:txBody>
      </p:sp>
    </p:spTree>
    <p:extLst>
      <p:ext uri="{BB962C8B-B14F-4D97-AF65-F5344CB8AC3E}">
        <p14:creationId xmlns:p14="http://schemas.microsoft.com/office/powerpoint/2010/main" val="3967104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EFDA6A-4565-18BA-BFCA-9B7B354D4438}"/>
              </a:ext>
            </a:extLst>
          </p:cNvPr>
          <p:cNvSpPr txBox="1"/>
          <p:nvPr/>
        </p:nvSpPr>
        <p:spPr>
          <a:xfrm>
            <a:off x="239338" y="171834"/>
            <a:ext cx="4998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Mechanical Design: </a:t>
            </a:r>
            <a:r>
              <a:rPr lang="en-US" sz="2400" dirty="0"/>
              <a:t>Physical Model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8F14B21-7478-CDC2-6D5B-550C6522C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9882" y="1385274"/>
            <a:ext cx="3990843" cy="30084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2F07C9-2BD5-FBAF-306E-41F423DDED1D}"/>
                  </a:ext>
                </a:extLst>
              </p:cNvPr>
              <p:cNvSpPr txBox="1"/>
              <p:nvPr/>
            </p:nvSpPr>
            <p:spPr>
              <a:xfrm>
                <a:off x="557598" y="5091685"/>
                <a:ext cx="5135413" cy="6086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func>
                            <m:func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func>
                            <m:func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func>
                                <m:funcPr>
                                  <m:ctrl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func>
                                <m:funcPr>
                                  <m:ctrl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2F07C9-2BD5-FBAF-306E-41F423DDE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98" y="5091685"/>
                <a:ext cx="5135413" cy="6086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98D114-DABC-1934-8A98-C36416A3CE45}"/>
                  </a:ext>
                </a:extLst>
              </p:cNvPr>
              <p:cNvSpPr txBox="1"/>
              <p:nvPr/>
            </p:nvSpPr>
            <p:spPr>
              <a:xfrm>
                <a:off x="6498990" y="633499"/>
                <a:ext cx="4862550" cy="16039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/>
                  <a:t>Case 1: tiny perturbation    </a:t>
                </a:r>
                <a:r>
                  <a:rPr lang="en-US" altLang="zh-CN" dirty="0"/>
                  <a:t>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θ</m:t>
                    </m:r>
                    <m:r>
                      <a:rPr lang="en-US" i="1"/>
                      <m:t>≳0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)</a:t>
                </a:r>
              </a:p>
              <a:p>
                <a:pPr>
                  <a:lnSpc>
                    <a:spcPct val="60000"/>
                  </a:lnSpc>
                </a:pPr>
                <a:endParaRPr lang="en-US" dirty="0"/>
              </a:p>
              <a:p>
                <a:pPr>
                  <a:lnSpc>
                    <a:spcPct val="6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𝑙𝑀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60000"/>
                  </a:lnSpc>
                </a:pP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W</a:t>
                </a:r>
                <a:r>
                  <a:rPr lang="en-US" dirty="0"/>
                  <a:t>e want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to be as small as possible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need large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dirty="0"/>
                  <a:t> and small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98D114-DABC-1934-8A98-C36416A3C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990" y="633499"/>
                <a:ext cx="4862550" cy="1603901"/>
              </a:xfrm>
              <a:prstGeom prst="rect">
                <a:avLst/>
              </a:prstGeom>
              <a:blipFill>
                <a:blip r:embed="rId4"/>
                <a:stretch>
                  <a:fillRect l="-1003" t="-1141" r="-125" b="-5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6C7C78-3B94-3CFF-46C8-F8CF6A4C6047}"/>
                  </a:ext>
                </a:extLst>
              </p:cNvPr>
              <p:cNvSpPr txBox="1"/>
              <p:nvPr/>
            </p:nvSpPr>
            <p:spPr>
              <a:xfrm>
                <a:off x="6498990" y="3001156"/>
                <a:ext cx="5166158" cy="1434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Case 2: dynamic equilibrium   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en-US" dirty="0"/>
                  <a:t>)</a:t>
                </a:r>
              </a:p>
              <a:p>
                <a:pPr>
                  <a:lnSpc>
                    <a:spcPct val="60000"/>
                  </a:lnSpc>
                </a:pPr>
                <a:endParaRPr lang="en-US" dirty="0"/>
              </a:p>
              <a:p>
                <a:pPr>
                  <a:lnSpc>
                    <a:spcPct val="6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func>
                        <m:funcPr>
                          <m:ctrlPr>
                            <a:rPr lang="en-US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>
                  <a:lnSpc>
                    <a:spcPct val="60000"/>
                  </a:lnSpc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want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to recover as soon as possible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6C7C78-3B94-3CFF-46C8-F8CF6A4C6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990" y="3001156"/>
                <a:ext cx="5166158" cy="1434752"/>
              </a:xfrm>
              <a:prstGeom prst="rect">
                <a:avLst/>
              </a:prstGeom>
              <a:blipFill>
                <a:blip r:embed="rId5"/>
                <a:stretch>
                  <a:fillRect l="-943" t="-847" b="-5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DF2F6C-6A32-D634-453D-37C88C425D61}"/>
                  </a:ext>
                </a:extLst>
              </p:cNvPr>
              <p:cNvSpPr txBox="1"/>
              <p:nvPr/>
            </p:nvSpPr>
            <p:spPr>
              <a:xfrm>
                <a:off x="6498990" y="5199665"/>
                <a:ext cx="4745082" cy="948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Case 3: severely unbalanced   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want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as negative as possible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need large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dirty="0"/>
                  <a:t> and small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DF2F6C-6A32-D634-453D-37C88C425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990" y="5199665"/>
                <a:ext cx="4745082" cy="948978"/>
              </a:xfrm>
              <a:prstGeom prst="rect">
                <a:avLst/>
              </a:prstGeom>
              <a:blipFill>
                <a:blip r:embed="rId6"/>
                <a:stretch>
                  <a:fillRect l="-1027" t="-1923" r="-128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184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F2DE2-D1DF-9B4F-3DA6-E128ADD7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F846EE-6D73-6635-1BCE-5658F6BDD47D}"/>
              </a:ext>
            </a:extLst>
          </p:cNvPr>
          <p:cNvSpPr txBox="1"/>
          <p:nvPr/>
        </p:nvSpPr>
        <p:spPr>
          <a:xfrm>
            <a:off x="239338" y="171834"/>
            <a:ext cx="6018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Mechanical Design: </a:t>
            </a:r>
            <a:r>
              <a:rPr lang="en-US" sz="2400" dirty="0"/>
              <a:t>Chassis and</a:t>
            </a:r>
            <a:r>
              <a:rPr lang="zh-CN" altLang="en-US" sz="2400" dirty="0"/>
              <a:t> </a:t>
            </a:r>
            <a:r>
              <a:rPr lang="en-US" altLang="zh-CN" sz="2400" dirty="0"/>
              <a:t>Assemble</a:t>
            </a:r>
            <a:endParaRPr lang="en-US" sz="2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619CC4-BB89-D7AC-7361-41B2E2B540CA}"/>
              </a:ext>
            </a:extLst>
          </p:cNvPr>
          <p:cNvGrpSpPr/>
          <p:nvPr/>
        </p:nvGrpSpPr>
        <p:grpSpPr>
          <a:xfrm>
            <a:off x="298241" y="828027"/>
            <a:ext cx="3075645" cy="2820620"/>
            <a:chOff x="728172" y="706583"/>
            <a:chExt cx="3075645" cy="28206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97DEB5B-8A2F-0B43-D1B5-2F76EE6C1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812" y="706583"/>
              <a:ext cx="1980363" cy="49509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58739BC-A756-B854-31BF-83DF891D1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172" y="1201674"/>
              <a:ext cx="3075645" cy="2325529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11DF494-ADE6-E12E-5F28-358E9DE49D25}"/>
              </a:ext>
            </a:extLst>
          </p:cNvPr>
          <p:cNvGrpSpPr/>
          <p:nvPr/>
        </p:nvGrpSpPr>
        <p:grpSpPr>
          <a:xfrm>
            <a:off x="4487669" y="829561"/>
            <a:ext cx="3040438" cy="2820620"/>
            <a:chOff x="728172" y="3822191"/>
            <a:chExt cx="3040438" cy="282062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A2E60F4-7B8B-557B-5E33-ACAD31457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172" y="4317282"/>
              <a:ext cx="3040438" cy="232552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58B47FF-6962-C5C2-BB3A-B9ADEBF52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3240" y="3822191"/>
              <a:ext cx="1650301" cy="495091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AF3BC1F-2898-59C7-E076-C7773E3D88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889" y="828027"/>
            <a:ext cx="2115611" cy="28208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9C81F0B-D9AB-556C-0F9E-FC8148A076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15944" y="3960039"/>
            <a:ext cx="2367503" cy="249228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BBE1AE-6712-4F34-76F9-E67A2105C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5243" y="4219890"/>
            <a:ext cx="3352864" cy="197781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FF23B7A-6466-9798-F006-AE5DDA63D3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60000"/>
                    </a14:imgEffect>
                    <a14:imgEffect>
                      <a14:brightnessContrast bright="5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91" y="3961346"/>
            <a:ext cx="1992782" cy="2490978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F980CF19-36D9-70CF-4528-35299586C437}"/>
              </a:ext>
            </a:extLst>
          </p:cNvPr>
          <p:cNvSpPr/>
          <p:nvPr/>
        </p:nvSpPr>
        <p:spPr>
          <a:xfrm>
            <a:off x="3659315" y="2319990"/>
            <a:ext cx="542925" cy="331783"/>
          </a:xfrm>
          <a:prstGeom prst="rightArrow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12DFF73-A49E-779D-115A-829C708BAA65}"/>
              </a:ext>
            </a:extLst>
          </p:cNvPr>
          <p:cNvSpPr/>
          <p:nvPr/>
        </p:nvSpPr>
        <p:spPr>
          <a:xfrm>
            <a:off x="7813535" y="2319990"/>
            <a:ext cx="542925" cy="331783"/>
          </a:xfrm>
          <a:prstGeom prst="rightArrow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Curved Left 28">
            <a:extLst>
              <a:ext uri="{FF2B5EF4-FFF2-40B4-BE49-F238E27FC236}">
                <a16:creationId xmlns:a16="http://schemas.microsoft.com/office/drawing/2014/main" id="{B65B27EE-3F84-B535-0BA0-D9F8206F37D0}"/>
              </a:ext>
            </a:extLst>
          </p:cNvPr>
          <p:cNvSpPr/>
          <p:nvPr/>
        </p:nvSpPr>
        <p:spPr>
          <a:xfrm>
            <a:off x="11028459" y="2393157"/>
            <a:ext cx="963062" cy="2979570"/>
          </a:xfrm>
          <a:prstGeom prst="curvedLeftArrow">
            <a:avLst>
              <a:gd name="adj1" fmla="val 16849"/>
              <a:gd name="adj2" fmla="val 31689"/>
              <a:gd name="adj3" fmla="val 20286"/>
            </a:avLst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FB6007A1-4D2B-7FA4-8142-76C46E7CDDD2}"/>
              </a:ext>
            </a:extLst>
          </p:cNvPr>
          <p:cNvSpPr/>
          <p:nvPr/>
        </p:nvSpPr>
        <p:spPr>
          <a:xfrm rot="10800000">
            <a:off x="7750563" y="5040943"/>
            <a:ext cx="542925" cy="331783"/>
          </a:xfrm>
          <a:prstGeom prst="rightArrow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8705EF6D-7439-036B-6FF4-68CBF9ABA4F6}"/>
              </a:ext>
            </a:extLst>
          </p:cNvPr>
          <p:cNvSpPr/>
          <p:nvPr/>
        </p:nvSpPr>
        <p:spPr>
          <a:xfrm rot="10800000">
            <a:off x="3337845" y="5040289"/>
            <a:ext cx="542925" cy="331783"/>
          </a:xfrm>
          <a:prstGeom prst="rightArrow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3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4913-6FBC-EB85-7BC6-E940C39AD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171CEA-B7D5-B921-3F94-7C90B827F56D}"/>
              </a:ext>
            </a:extLst>
          </p:cNvPr>
          <p:cNvSpPr txBox="1"/>
          <p:nvPr/>
        </p:nvSpPr>
        <p:spPr>
          <a:xfrm>
            <a:off x="239338" y="171834"/>
            <a:ext cx="334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Signal Processing: </a:t>
            </a:r>
            <a:r>
              <a:rPr lang="en-US" altLang="zh-CN" sz="2400" dirty="0"/>
              <a:t>IMU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7357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A8CCF-508F-6D35-3484-C7933A8B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996E3F-E3B8-88FB-7618-F09BCE8AC519}"/>
              </a:ext>
            </a:extLst>
          </p:cNvPr>
          <p:cNvSpPr txBox="1"/>
          <p:nvPr/>
        </p:nvSpPr>
        <p:spPr>
          <a:xfrm>
            <a:off x="239338" y="171834"/>
            <a:ext cx="4748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Signal Processing: </a:t>
            </a:r>
            <a:r>
              <a:rPr lang="en-US" sz="2400" dirty="0"/>
              <a:t>PID Controller</a:t>
            </a:r>
          </a:p>
        </p:txBody>
      </p:sp>
    </p:spTree>
    <p:extLst>
      <p:ext uri="{BB962C8B-B14F-4D97-AF65-F5344CB8AC3E}">
        <p14:creationId xmlns:p14="http://schemas.microsoft.com/office/powerpoint/2010/main" val="1075973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0B3C-C1BC-7466-2122-3A16AB33B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C1ACD7-5C37-57DA-D56B-549AD6CEDA40}"/>
              </a:ext>
            </a:extLst>
          </p:cNvPr>
          <p:cNvSpPr txBox="1"/>
          <p:nvPr/>
        </p:nvSpPr>
        <p:spPr>
          <a:xfrm>
            <a:off x="239338" y="171834"/>
            <a:ext cx="2049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Control Logic</a:t>
            </a:r>
            <a:endParaRPr lang="en-US" sz="24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8FD55F3-7D53-069A-36FE-E3DD4A5FC0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9482" y="1079778"/>
            <a:ext cx="7893036" cy="16787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94B6E2-2777-E721-7B94-26D4F0D743C9}"/>
                  </a:ext>
                </a:extLst>
              </p:cNvPr>
              <p:cNvSpPr txBox="1"/>
              <p:nvPr/>
            </p:nvSpPr>
            <p:spPr>
              <a:xfrm>
                <a:off x="920447" y="3204800"/>
                <a:ext cx="4563685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/>
                  <a:t>Read States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Calculate pitch, yaw, …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Unwrap angles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Calculate acceleration in the world frame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…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94B6E2-2777-E721-7B94-26D4F0D74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47" y="3204800"/>
                <a:ext cx="4563685" cy="1477328"/>
              </a:xfrm>
              <a:prstGeom prst="rect">
                <a:avLst/>
              </a:prstGeom>
              <a:blipFill>
                <a:blip r:embed="rId3"/>
                <a:stretch>
                  <a:fillRect l="-1202" t="-2066" r="-134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39C49D1-5895-EBA0-D4F1-CA81E8B68D7A}"/>
              </a:ext>
            </a:extLst>
          </p:cNvPr>
          <p:cNvSpPr txBox="1"/>
          <p:nvPr/>
        </p:nvSpPr>
        <p:spPr>
          <a:xfrm>
            <a:off x="920447" y="4915473"/>
            <a:ext cx="47428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Check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Determine whether the pitch is recoverable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Estimate the perturbation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A3A14-89CE-2CBC-3329-F1EB11475297}"/>
              </a:ext>
            </a:extLst>
          </p:cNvPr>
          <p:cNvSpPr txBox="1"/>
          <p:nvPr/>
        </p:nvSpPr>
        <p:spPr>
          <a:xfrm>
            <a:off x="7093743" y="3204800"/>
            <a:ext cx="41778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Feedback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the output of PID 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other feedback logics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B0398E-4D69-F3B2-58F3-AA2B62240814}"/>
              </a:ext>
            </a:extLst>
          </p:cNvPr>
          <p:cNvSpPr txBox="1"/>
          <p:nvPr/>
        </p:nvSpPr>
        <p:spPr>
          <a:xfrm>
            <a:off x="7093743" y="4915473"/>
            <a:ext cx="39637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Take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Further adjust the controller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 the motors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8545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98D03-2696-7F65-242E-FF86BD30E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34B3A6-499C-1EC4-0A24-1E2331F925A3}"/>
              </a:ext>
            </a:extLst>
          </p:cNvPr>
          <p:cNvSpPr txBox="1"/>
          <p:nvPr/>
        </p:nvSpPr>
        <p:spPr>
          <a:xfrm>
            <a:off x="239338" y="171834"/>
            <a:ext cx="2553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Current Progress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58C7967-72BD-7997-698D-D99E9257A6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3661463"/>
                  </p:ext>
                </p:extLst>
              </p:nvPr>
            </p:nvGraphicFramePr>
            <p:xfrm>
              <a:off x="457198" y="2785149"/>
              <a:ext cx="6872289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4677">
                      <a:extLst>
                        <a:ext uri="{9D8B030D-6E8A-4147-A177-3AD203B41FA5}">
                          <a16:colId xmlns:a16="http://schemas.microsoft.com/office/drawing/2014/main" val="2747036432"/>
                        </a:ext>
                      </a:extLst>
                    </a:gridCol>
                    <a:gridCol w="1567612">
                      <a:extLst>
                        <a:ext uri="{9D8B030D-6E8A-4147-A177-3AD203B41FA5}">
                          <a16:colId xmlns:a16="http://schemas.microsoft.com/office/drawing/2014/main" val="2014335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Evaluation 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Rough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6938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Balancing Time (no perturbation)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∼∞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0056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 Pitch (no perturbation)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3.5</m:t>
                                    </m:r>
                                  </m:e>
                                  <m:sup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5534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 Displacement in </a:t>
                          </a: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1s</a:t>
                          </a: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(no perturbation)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≈0.15 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4376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Min Pitch to Drive Motors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0.4</m:t>
                                    </m:r>
                                  </m:e>
                                  <m:sup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5221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Perturbation Reaction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≪0.2 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59064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 Allowed Perturbation Pitch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  <m:sup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70979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 Time to Restore from Pitch Perturbation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≈1.5 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2482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 Displacement by Pitch Perturbation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≈1 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8140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 Time to Restore from Yaw Perturbation of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1" kern="120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kern="120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180</m:t>
                                  </m:r>
                                </m:e>
                                <m:sup>
                                  <m:r>
                                    <a:rPr lang="en-US" sz="1800" b="0" i="1" kern="120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∘</m:t>
                                  </m:r>
                                </m:sup>
                              </m:sSup>
                            </m:oMath>
                          </a14:m>
                          <a:endParaRPr 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≈3 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16233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58C7967-72BD-7997-698D-D99E9257A6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3661463"/>
                  </p:ext>
                </p:extLst>
              </p:nvPr>
            </p:nvGraphicFramePr>
            <p:xfrm>
              <a:off x="457198" y="2785149"/>
              <a:ext cx="6872289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04677">
                      <a:extLst>
                        <a:ext uri="{9D8B030D-6E8A-4147-A177-3AD203B41FA5}">
                          <a16:colId xmlns:a16="http://schemas.microsoft.com/office/drawing/2014/main" val="2747036432"/>
                        </a:ext>
                      </a:extLst>
                    </a:gridCol>
                    <a:gridCol w="1567612">
                      <a:extLst>
                        <a:ext uri="{9D8B030D-6E8A-4147-A177-3AD203B41FA5}">
                          <a16:colId xmlns:a16="http://schemas.microsoft.com/office/drawing/2014/main" val="2014335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Evaluation 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Rough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6938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Balancing Time (no perturbation)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984" t="-106557" r="-1550" b="-8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0056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 Pitch (no perturbation)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984" t="-206557" r="-1550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534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 Displacement in </a:t>
                          </a: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1s</a:t>
                          </a: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(no perturbation)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984" t="-306557" r="-1550" b="-6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4376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Min Pitch to Drive Motors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984" t="-406557" r="-155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5221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Perturbation Reaction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984" t="-506557" r="-1550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59064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 Allowed Perturbation Pitch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984" t="-606557" r="-1550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70979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 Time to Restore from Pitch Perturbation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984" t="-706557" r="-1550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2482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 Displacement by Pitch Perturbation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984" t="-806557" r="-1550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8140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5" t="-906557" r="-3008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7984" t="-906557" r="-1550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16233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DFC106B-4D86-BEAF-2205-59838A0D3926}"/>
              </a:ext>
            </a:extLst>
          </p:cNvPr>
          <p:cNvSpPr txBox="1"/>
          <p:nvPr/>
        </p:nvSpPr>
        <p:spPr>
          <a:xfrm>
            <a:off x="2728913" y="1232836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Gif of pushing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80E48-6FB0-7D08-C8A4-B4C18C8CF935}"/>
              </a:ext>
            </a:extLst>
          </p:cNvPr>
          <p:cNvSpPr txBox="1"/>
          <p:nvPr/>
        </p:nvSpPr>
        <p:spPr>
          <a:xfrm>
            <a:off x="8493920" y="1932924"/>
            <a:ext cx="3190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Gif of balancing for a long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139670-0184-1AE1-A808-A3D782748CDA}"/>
              </a:ext>
            </a:extLst>
          </p:cNvPr>
          <p:cNvSpPr txBox="1"/>
          <p:nvPr/>
        </p:nvSpPr>
        <p:spPr>
          <a:xfrm>
            <a:off x="9172575" y="4639349"/>
            <a:ext cx="1976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Gif of twisting yaw</a:t>
            </a:r>
          </a:p>
        </p:txBody>
      </p:sp>
    </p:spTree>
    <p:extLst>
      <p:ext uri="{BB962C8B-B14F-4D97-AF65-F5344CB8AC3E}">
        <p14:creationId xmlns:p14="http://schemas.microsoft.com/office/powerpoint/2010/main" val="4073306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0C7DF-BBB2-4916-BE00-E56CF7B6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6F1AB0-F271-458B-C89B-A96525B12C89}"/>
              </a:ext>
            </a:extLst>
          </p:cNvPr>
          <p:cNvSpPr txBox="1"/>
          <p:nvPr/>
        </p:nvSpPr>
        <p:spPr>
          <a:xfrm>
            <a:off x="239338" y="171834"/>
            <a:ext cx="3075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 Management</a:t>
            </a:r>
            <a:endParaRPr lang="en-US" sz="24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2252602-E60A-7F31-22A0-765F749533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3531" y="991666"/>
            <a:ext cx="8004938" cy="35153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D7B5F4-458F-752E-5061-3CD86EF66C33}"/>
              </a:ext>
            </a:extLst>
          </p:cNvPr>
          <p:cNvSpPr txBox="1"/>
          <p:nvPr/>
        </p:nvSpPr>
        <p:spPr>
          <a:xfrm>
            <a:off x="2093531" y="4865228"/>
            <a:ext cx="70312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Phase 1 </a:t>
            </a:r>
            <a:r>
              <a:rPr lang="en-US" dirty="0"/>
              <a:t>(Week 7-8)</a:t>
            </a:r>
            <a:r>
              <a:rPr lang="en-US" b="1" dirty="0"/>
              <a:t>: </a:t>
            </a:r>
            <a:r>
              <a:rPr lang="en-US" dirty="0"/>
              <a:t>Improve the locking skill and motion skill</a:t>
            </a:r>
          </a:p>
          <a:p>
            <a:endParaRPr lang="en-US" dirty="0"/>
          </a:p>
          <a:p>
            <a:r>
              <a:rPr lang="en-US" b="1" dirty="0"/>
              <a:t>Phase 2 </a:t>
            </a:r>
            <a:r>
              <a:rPr lang="en-US" dirty="0"/>
              <a:t>(Week 9-11)</a:t>
            </a:r>
            <a:r>
              <a:rPr lang="en-US" b="1" dirty="0"/>
              <a:t>: </a:t>
            </a:r>
            <a:r>
              <a:rPr lang="en-US" dirty="0"/>
              <a:t>Develop the adaption skill and resurrection skill</a:t>
            </a:r>
          </a:p>
          <a:p>
            <a:endParaRPr lang="en-US" dirty="0"/>
          </a:p>
          <a:p>
            <a:r>
              <a:rPr lang="en-US" b="1" dirty="0"/>
              <a:t>Phase 3 </a:t>
            </a:r>
            <a:r>
              <a:rPr lang="en-US" dirty="0"/>
              <a:t>(Week 12)</a:t>
            </a:r>
            <a:r>
              <a:rPr lang="en-US" b="1" dirty="0"/>
              <a:t>: </a:t>
            </a:r>
            <a:r>
              <a:rPr lang="en-US" dirty="0"/>
              <a:t>Do the final improvements based on the tests</a:t>
            </a:r>
          </a:p>
        </p:txBody>
      </p:sp>
    </p:spTree>
    <p:extLst>
      <p:ext uri="{BB962C8B-B14F-4D97-AF65-F5344CB8AC3E}">
        <p14:creationId xmlns:p14="http://schemas.microsoft.com/office/powerpoint/2010/main" val="3903832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990A-15C4-952D-5E37-53529CE1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5D8D16-B24A-B2A7-3C8A-977EAC6BAAC8}"/>
              </a:ext>
            </a:extLst>
          </p:cNvPr>
          <p:cNvSpPr txBox="1"/>
          <p:nvPr/>
        </p:nvSpPr>
        <p:spPr>
          <a:xfrm>
            <a:off x="239338" y="171834"/>
            <a:ext cx="1781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6C5321-C0CC-2AB3-BFEC-D494A7669400}"/>
              </a:ext>
            </a:extLst>
          </p:cNvPr>
          <p:cNvSpPr txBox="1"/>
          <p:nvPr/>
        </p:nvSpPr>
        <p:spPr>
          <a:xfrm>
            <a:off x="379370" y="840757"/>
            <a:ext cx="11255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[1] Wang, A., &amp; Wang, A. (2026, January 27). Autonomous Mobile Robot (AMR) applications by industry. </a:t>
            </a:r>
            <a:r>
              <a:rPr lang="en-US" sz="1000" dirty="0" err="1"/>
              <a:t>Fdata</a:t>
            </a:r>
            <a:r>
              <a:rPr lang="en-US" sz="1000" dirty="0"/>
              <a:t> Robot. https://www.fdatabot.com/autonomous-mobile-robot-amr-applications-by-industry/</a:t>
            </a:r>
          </a:p>
          <a:p>
            <a:r>
              <a:rPr lang="en-US" sz="1000" dirty="0"/>
              <a:t>[2] </a:t>
            </a:r>
            <a:r>
              <a:rPr lang="en-US" sz="1000" dirty="0" err="1"/>
              <a:t>Arvindpdmn</a:t>
            </a:r>
            <a:r>
              <a:rPr lang="en-US" sz="1000" dirty="0"/>
              <a:t>, J. R. C. (2022, May 23). Mobile robot. </a:t>
            </a:r>
            <a:r>
              <a:rPr lang="en-US" sz="1000" dirty="0" err="1"/>
              <a:t>Devopedia</a:t>
            </a:r>
            <a:r>
              <a:rPr lang="en-US" sz="1000" dirty="0"/>
              <a:t>. https://devopedia.org/mobile-robot</a:t>
            </a:r>
          </a:p>
        </p:txBody>
      </p:sp>
    </p:spTree>
    <p:extLst>
      <p:ext uri="{BB962C8B-B14F-4D97-AF65-F5344CB8AC3E}">
        <p14:creationId xmlns:p14="http://schemas.microsoft.com/office/powerpoint/2010/main" val="85068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558</Words>
  <Application>Microsoft Office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Zhihao Lin</dc:creator>
  <cp:lastModifiedBy>Zhihao Lin</cp:lastModifiedBy>
  <cp:revision>7</cp:revision>
  <dcterms:created xsi:type="dcterms:W3CDTF">2026-04-13T06:43:31Z</dcterms:created>
  <dcterms:modified xsi:type="dcterms:W3CDTF">2026-04-13T11:13:42Z</dcterms:modified>
</cp:coreProperties>
</file>