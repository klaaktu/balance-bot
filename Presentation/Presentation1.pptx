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3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2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B2ADEA9-2503-4B3D-89B0-932D19E53B43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657607-B1F8-4584-A604-1B85EC295E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546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B657607-B1F8-4584-A604-1B85EC295E3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7219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0DE37A-C65D-3542-E6C8-35CE619113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7A9207D-212A-C4FB-6AE5-4D5294B7F0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59C3AE-D32C-5516-A905-A165DCFFAA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F964A3-D277-E0D0-347E-7C84A1380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B1DEB9-7D65-E016-B6C6-A44FAC344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7010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00266-F818-0A4F-DA21-DBDBCF4528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D800A5-DDC3-2B47-6903-DB385FA5AA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4C900-33F2-79A7-E74B-D0A6CD28FE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A03A7D-3453-2F52-ACCC-A2BFC5C9A0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CFC44D-19A7-DBF4-48BA-888F61AA16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5471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DB4C85-DC77-7445-4384-DD1D3B9BF8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9EF0AF-E14E-4672-653E-3CF494B4B4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D3584-2423-6373-E549-251C21383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C88A9E-8EE0-289C-8F93-1EA2A4B68D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C5F43C-5BF5-8245-FF77-D5AD2A0713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8599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9AD3E1-662D-5C81-0DB4-F8F995BB2D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6A1979-2002-2F82-91B8-0A6106C20E5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655E40-9E41-C928-A43C-E45066DD61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686D0D6-4452-CD31-65F5-5F3594C84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FE7DE-B0AA-C8FE-36B1-9DB91CC10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5024BBF-2656-A868-D4A5-6ED57D90F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0765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029B70-1861-D569-71FE-9BAA9EAEA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2DD0C1-BD72-79AC-F057-2B2FC41FFE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7FE482-68D5-ED04-0C72-598667AD006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F5EDD-5213-BCCC-D106-418308AFBC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96CB48-9CD6-D953-61A3-0C25799C5F4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75E577-07C2-2A9B-2292-3D053B1D8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C134354-A5CE-16FA-FE12-BFD45D836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DFD260-0BDC-C463-ED7A-7F49673277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5243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E3BA5-EB12-8854-A630-8AE616469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89445C3-EEFB-C917-5F03-D725F8A5E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6A7EF4-33D1-505D-7BC0-67B9BFF5EB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1CFF6E-1FAA-5487-0767-5CB3B5C9B7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4379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9531-8F16-60FC-BAEE-3249C477F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BD6C2E1-B7BC-99BC-2BE5-55D660D63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26F78-012A-030A-1679-AAB838F16E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63309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705C6-6010-F228-357E-06C5C3720D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8EF12-D527-FB8C-C4CE-E7B2B5C12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F15C003-B21F-F0F6-0C6B-F451187B778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478F0-41F5-0C19-7DA0-739A188B15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DAC9A5-4CBA-5F54-A3E4-73224CD20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293B3C-DFA0-052C-64E8-CA73518F7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646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5D8F3-AF2B-D543-55E7-625E52429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CA0882C-523D-FFB6-41B2-A4A900AF0F6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2D990A4-78C0-0A3C-FA3D-698A39EB0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561342-99C1-D74D-73ED-DFEF4E98D3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F6A5F92-CE0B-9619-A0A4-DD8E404599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D59C0D-EA5E-3195-09D6-934151990F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24585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3B005F-6AF4-7553-162C-C69A78FE2C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914E7E-5985-A3A9-B95A-C10B06180E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E9D107-273A-6354-7DAC-4AF14A19A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A6A21-AB5B-C146-F5B3-A78AC3CA9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EB2F0-0EE8-EEA1-8A68-52DA4A995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93816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E603F51-81B1-086B-CE4B-A6D32460C9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B5A15E-FB0C-FB5D-C083-93ECF93390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0A8F1F-EF86-8662-47C6-BE71C78BE7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228E35-FD83-22DE-4F45-F2FA4ECE9F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744505-DA42-5DA1-47D0-2F1CFBB933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4636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8D06002-1917-9354-97BA-9B0A12EBE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748949-7489-CCF3-A385-4273ECF2EC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476909-6C83-F20B-6B2B-F8F1AC27DD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C917641-A320-4EC9-BD5D-C1574B2133AD}" type="datetimeFigureOut">
              <a:rPr lang="en-US" smtClean="0"/>
              <a:t>4/17/2026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141BED-6D38-B1FF-035D-40A70CBC337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88B61-23ED-447D-30C1-0FC1257197B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D98858-B2AD-48DC-825D-520024DCC0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9333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svg"/><Relationship Id="rId3" Type="http://schemas.openxmlformats.org/officeDocument/2006/relationships/image" Target="../media/image18.png"/><Relationship Id="rId7" Type="http://schemas.openxmlformats.org/officeDocument/2006/relationships/image" Target="../media/image22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jpeg"/><Relationship Id="rId5" Type="http://schemas.openxmlformats.org/officeDocument/2006/relationships/image" Target="../media/image20.png"/><Relationship Id="rId10" Type="http://schemas.microsoft.com/office/2007/relationships/hdphoto" Target="../media/hdphoto1.wdp"/><Relationship Id="rId4" Type="http://schemas.openxmlformats.org/officeDocument/2006/relationships/image" Target="../media/image19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0.png"/><Relationship Id="rId7" Type="http://schemas.openxmlformats.org/officeDocument/2006/relationships/image" Target="../media/image28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svg"/><Relationship Id="rId11" Type="http://schemas.openxmlformats.org/officeDocument/2006/relationships/image" Target="../media/image32.png"/><Relationship Id="rId5" Type="http://schemas.openxmlformats.org/officeDocument/2006/relationships/image" Target="../media/image26.svg"/><Relationship Id="rId10" Type="http://schemas.openxmlformats.org/officeDocument/2006/relationships/image" Target="../media/image31.png"/><Relationship Id="rId4" Type="http://schemas.openxmlformats.org/officeDocument/2006/relationships/image" Target="../media/image250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microsoft.com/office/2007/relationships/media" Target="../media/media2.mp4"/><Relationship Id="rId7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video" Target="../media/media3.mp4"/><Relationship Id="rId11" Type="http://schemas.openxmlformats.org/officeDocument/2006/relationships/image" Target="../media/image36.png"/><Relationship Id="rId5" Type="http://schemas.microsoft.com/office/2007/relationships/media" Target="../media/media3.mp4"/><Relationship Id="rId10" Type="http://schemas.openxmlformats.org/officeDocument/2006/relationships/image" Target="../media/image35.png"/><Relationship Id="rId4" Type="http://schemas.openxmlformats.org/officeDocument/2006/relationships/video" Target="../media/media2.mp4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evopedia.org/mobile-robot" TargetMode="External"/><Relationship Id="rId2" Type="http://schemas.openxmlformats.org/officeDocument/2006/relationships/hyperlink" Target="https://www.fdatabot.com/autonomous-mobile-robot-amr-applications-by-industry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ece.montana.edu/seniordesign/archive/SP14/UnderwaterNavigation/Quaternions.html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6507EF-D040-7B1F-A881-6EA15458957B}"/>
              </a:ext>
            </a:extLst>
          </p:cNvPr>
          <p:cNvSpPr txBox="1"/>
          <p:nvPr/>
        </p:nvSpPr>
        <p:spPr>
          <a:xfrm>
            <a:off x="632510" y="1784021"/>
            <a:ext cx="5940531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Design a Robot with Balancing Ability and Self-controllability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84DC595-9D27-2EF7-43FE-0974877762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1542" y="723645"/>
            <a:ext cx="4240197" cy="530024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507FBFD-E238-AEA2-C04A-B9305BE399F2}"/>
              </a:ext>
            </a:extLst>
          </p:cNvPr>
          <p:cNvSpPr txBox="1"/>
          <p:nvPr/>
        </p:nvSpPr>
        <p:spPr>
          <a:xfrm>
            <a:off x="632510" y="4989762"/>
            <a:ext cx="1237262" cy="7571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Team</a:t>
            </a:r>
            <a:r>
              <a:rPr lang="en-US" dirty="0"/>
              <a:t>:</a:t>
            </a:r>
          </a:p>
          <a:p>
            <a:pPr algn="r">
              <a:lnSpc>
                <a:spcPct val="40000"/>
              </a:lnSpc>
            </a:pPr>
            <a:endParaRPr lang="en-US" dirty="0"/>
          </a:p>
          <a:p>
            <a:pPr algn="r"/>
            <a:r>
              <a:rPr lang="en-US" b="1" dirty="0"/>
              <a:t>Members</a:t>
            </a:r>
            <a:r>
              <a:rPr lang="en-US" dirty="0"/>
              <a:t>: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993821-9808-CF23-05AE-810EAC413CF4}"/>
              </a:ext>
            </a:extLst>
          </p:cNvPr>
          <p:cNvSpPr txBox="1"/>
          <p:nvPr/>
        </p:nvSpPr>
        <p:spPr>
          <a:xfrm>
            <a:off x="1869772" y="4989762"/>
            <a:ext cx="4015586" cy="10341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Box3</a:t>
            </a:r>
          </a:p>
          <a:p>
            <a:pPr>
              <a:lnSpc>
                <a:spcPct val="40000"/>
              </a:lnSpc>
            </a:pPr>
            <a:endParaRPr lang="en-US" dirty="0"/>
          </a:p>
          <a:p>
            <a:r>
              <a:rPr lang="en-US" dirty="0"/>
              <a:t>Zhihao Lin (u8175491@anu.edu.au)</a:t>
            </a:r>
          </a:p>
          <a:p>
            <a:r>
              <a:rPr lang="en-US" dirty="0" err="1"/>
              <a:t>Zongjun</a:t>
            </a:r>
            <a:r>
              <a:rPr lang="en-US" dirty="0"/>
              <a:t> Yang (u8463895@anu.edu.au)</a:t>
            </a:r>
          </a:p>
        </p:txBody>
      </p:sp>
    </p:spTree>
    <p:extLst>
      <p:ext uri="{BB962C8B-B14F-4D97-AF65-F5344CB8AC3E}">
        <p14:creationId xmlns:p14="http://schemas.microsoft.com/office/powerpoint/2010/main" val="18700846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98827B2-43BD-4BF4-580B-ABFB1811F6D0}"/>
              </a:ext>
            </a:extLst>
          </p:cNvPr>
          <p:cNvSpPr txBox="1"/>
          <p:nvPr/>
        </p:nvSpPr>
        <p:spPr>
          <a:xfrm>
            <a:off x="239338" y="171834"/>
            <a:ext cx="18587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Background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50D91D-03B5-731C-06A6-41EAAE1CF7BE}"/>
              </a:ext>
            </a:extLst>
          </p:cNvPr>
          <p:cNvSpPr txBox="1"/>
          <p:nvPr/>
        </p:nvSpPr>
        <p:spPr>
          <a:xfrm>
            <a:off x="313165" y="4895313"/>
            <a:ext cx="32340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Requirements Review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87D3B6ED-6928-2343-4E57-7110378FE23A}"/>
              </a:ext>
            </a:extLst>
          </p:cNvPr>
          <p:cNvGrpSpPr/>
          <p:nvPr/>
        </p:nvGrpSpPr>
        <p:grpSpPr>
          <a:xfrm>
            <a:off x="6281088" y="146460"/>
            <a:ext cx="4962131" cy="4748853"/>
            <a:chOff x="6281088" y="327942"/>
            <a:chExt cx="4962131" cy="474885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64283CE-09B9-822B-7D8D-4AAA64FD15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281088" y="327942"/>
              <a:ext cx="4962131" cy="4646469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97DCCDB3-0286-688D-CDFA-1FE2058CB63E}"/>
                </a:ext>
              </a:extLst>
            </p:cNvPr>
            <p:cNvSpPr txBox="1"/>
            <p:nvPr/>
          </p:nvSpPr>
          <p:spPr>
            <a:xfrm>
              <a:off x="8150447" y="4830574"/>
              <a:ext cx="12234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Types of robots [2] 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EBD1D1BB-B6C4-D5CF-FCA3-1CA4F43B8198}"/>
              </a:ext>
            </a:extLst>
          </p:cNvPr>
          <p:cNvSpPr txBox="1"/>
          <p:nvPr/>
        </p:nvSpPr>
        <p:spPr>
          <a:xfrm>
            <a:off x="1138011" y="5356978"/>
            <a:ext cx="487897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Top-level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 its balanced state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Drift less than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0.5m</a:t>
            </a:r>
            <a:r>
              <a:rPr lang="en-US" dirty="0"/>
              <a:t> 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1s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Recover from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15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° </a:t>
            </a:r>
            <a:r>
              <a:rPr lang="en-US" dirty="0"/>
              <a:t>perturbation within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2s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1D78F5-BD9A-6F44-A9FF-D2C91F975769}"/>
              </a:ext>
            </a:extLst>
          </p:cNvPr>
          <p:cNvSpPr txBox="1"/>
          <p:nvPr/>
        </p:nvSpPr>
        <p:spPr>
          <a:xfrm>
            <a:off x="6322666" y="5356978"/>
            <a:ext cx="487897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Advanced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</a:t>
            </a:r>
            <a:r>
              <a:rPr lang="en-US" dirty="0"/>
              <a:t>ully control its state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F</a:t>
            </a:r>
            <a:r>
              <a:rPr lang="en-US" dirty="0"/>
              <a:t>ollow a designated path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D</a:t>
            </a:r>
            <a:r>
              <a:rPr lang="en-US" dirty="0"/>
              <a:t>ynamically adapt to varying environments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B54096F-1FB2-64E1-183B-277245F31FDF}"/>
              </a:ext>
            </a:extLst>
          </p:cNvPr>
          <p:cNvGrpSpPr/>
          <p:nvPr/>
        </p:nvGrpSpPr>
        <p:grpSpPr>
          <a:xfrm>
            <a:off x="1076458" y="869930"/>
            <a:ext cx="4343398" cy="3538345"/>
            <a:chOff x="1064184" y="791186"/>
            <a:chExt cx="4343398" cy="3538345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D1B051C-790D-84AE-CA61-025A6AFF088D}"/>
                </a:ext>
              </a:extLst>
            </p:cNvPr>
            <p:cNvSpPr txBox="1"/>
            <p:nvPr/>
          </p:nvSpPr>
          <p:spPr>
            <a:xfrm>
              <a:off x="2637802" y="4083310"/>
              <a:ext cx="1196161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Industry robots [1]</a:t>
              </a:r>
            </a:p>
          </p:txBody>
        </p:sp>
        <p:pic>
          <p:nvPicPr>
            <p:cNvPr id="18" name="Picture 17">
              <a:extLst>
                <a:ext uri="{FF2B5EF4-FFF2-40B4-BE49-F238E27FC236}">
                  <a16:creationId xmlns:a16="http://schemas.microsoft.com/office/drawing/2014/main" id="{9702F8C5-3A09-B009-60AE-1D0F5E29166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64184" y="791186"/>
              <a:ext cx="4343398" cy="325754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0767132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93EE3BBE-A2F0-1AA5-5E13-8C321AD27251}"/>
              </a:ext>
            </a:extLst>
          </p:cNvPr>
          <p:cNvSpPr/>
          <p:nvPr/>
        </p:nvSpPr>
        <p:spPr>
          <a:xfrm>
            <a:off x="10610721" y="1755158"/>
            <a:ext cx="705745" cy="1614008"/>
          </a:xfrm>
          <a:custGeom>
            <a:avLst/>
            <a:gdLst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619828 w 779388"/>
              <a:gd name="csY1" fmla="*/ 662787 h 1607871"/>
              <a:gd name="csX2" fmla="*/ 779388 w 779388"/>
              <a:gd name="csY2" fmla="*/ 1607871 h 1607871"/>
              <a:gd name="csX0" fmla="*/ 0 w 783392"/>
              <a:gd name="csY0" fmla="*/ 0 h 1607871"/>
              <a:gd name="csX1" fmla="*/ 619828 w 783392"/>
              <a:gd name="csY1" fmla="*/ 662787 h 1607871"/>
              <a:gd name="csX2" fmla="*/ 779388 w 783392"/>
              <a:gd name="csY2" fmla="*/ 1607871 h 1607871"/>
              <a:gd name="csX0" fmla="*/ 0 w 783392"/>
              <a:gd name="csY0" fmla="*/ 0 h 1607871"/>
              <a:gd name="csX1" fmla="*/ 619828 w 783392"/>
              <a:gd name="csY1" fmla="*/ 662787 h 1607871"/>
              <a:gd name="csX2" fmla="*/ 779388 w 783392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0489 w 779388"/>
              <a:gd name="csY1" fmla="*/ 82234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86625 w 779388"/>
              <a:gd name="csY1" fmla="*/ 662787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441857 w 779388"/>
              <a:gd name="csY1" fmla="*/ 736429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441857 w 779388"/>
              <a:gd name="csY1" fmla="*/ 736429 h 1607871"/>
              <a:gd name="csX2" fmla="*/ 779388 w 779388"/>
              <a:gd name="csY2" fmla="*/ 1607871 h 1607871"/>
              <a:gd name="csX0" fmla="*/ 0 w 779388"/>
              <a:gd name="csY0" fmla="*/ 0 h 1607871"/>
              <a:gd name="csX1" fmla="*/ 398899 w 779388"/>
              <a:gd name="csY1" fmla="*/ 736429 h 1607871"/>
              <a:gd name="csX2" fmla="*/ 779388 w 779388"/>
              <a:gd name="csY2" fmla="*/ 1607871 h 1607871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  <a:gd name="csX0" fmla="*/ 0 w 705745"/>
              <a:gd name="csY0" fmla="*/ 0 h 1614008"/>
              <a:gd name="csX1" fmla="*/ 398899 w 705745"/>
              <a:gd name="csY1" fmla="*/ 736429 h 1614008"/>
              <a:gd name="csX2" fmla="*/ 705745 w 705745"/>
              <a:gd name="csY2" fmla="*/ 1614008 h 16140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05745" h="1614008">
                <a:moveTo>
                  <a:pt x="0" y="0"/>
                </a:moveTo>
                <a:cubicBezTo>
                  <a:pt x="11762" y="258773"/>
                  <a:pt x="324234" y="633124"/>
                  <a:pt x="398899" y="736429"/>
                </a:cubicBezTo>
                <a:cubicBezTo>
                  <a:pt x="473564" y="839734"/>
                  <a:pt x="705745" y="1073960"/>
                  <a:pt x="705745" y="1614008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E75E2EBF-99D2-B331-3B68-335BEE40C4DB}"/>
              </a:ext>
            </a:extLst>
          </p:cNvPr>
          <p:cNvSpPr/>
          <p:nvPr/>
        </p:nvSpPr>
        <p:spPr>
          <a:xfrm>
            <a:off x="7217008" y="1564914"/>
            <a:ext cx="816265" cy="1884032"/>
          </a:xfrm>
          <a:custGeom>
            <a:avLst/>
            <a:gdLst>
              <a:gd name="csX0" fmla="*/ 0 w 740374"/>
              <a:gd name="csY0" fmla="*/ 0 h 1877895"/>
              <a:gd name="csX1" fmla="*/ 681198 w 740374"/>
              <a:gd name="csY1" fmla="*/ 760977 h 1877895"/>
              <a:gd name="csX2" fmla="*/ 711882 w 740374"/>
              <a:gd name="csY2" fmla="*/ 1877895 h 1877895"/>
              <a:gd name="csX0" fmla="*/ 0 w 740374"/>
              <a:gd name="csY0" fmla="*/ 0 h 1877895"/>
              <a:gd name="csX1" fmla="*/ 681198 w 740374"/>
              <a:gd name="csY1" fmla="*/ 760977 h 1877895"/>
              <a:gd name="csX2" fmla="*/ 711882 w 740374"/>
              <a:gd name="csY2" fmla="*/ 1877895 h 1877895"/>
              <a:gd name="csX0" fmla="*/ 0 w 743854"/>
              <a:gd name="csY0" fmla="*/ 0 h 1877895"/>
              <a:gd name="csX1" fmla="*/ 681198 w 743854"/>
              <a:gd name="csY1" fmla="*/ 760977 h 1877895"/>
              <a:gd name="csX2" fmla="*/ 711882 w 743854"/>
              <a:gd name="csY2" fmla="*/ 1877895 h 1877895"/>
              <a:gd name="csX0" fmla="*/ 0 w 816354"/>
              <a:gd name="csY0" fmla="*/ 0 h 1884032"/>
              <a:gd name="csX1" fmla="*/ 681198 w 816354"/>
              <a:gd name="csY1" fmla="*/ 760977 h 1884032"/>
              <a:gd name="csX2" fmla="*/ 816210 w 816354"/>
              <a:gd name="csY2" fmla="*/ 1884032 h 1884032"/>
              <a:gd name="csX0" fmla="*/ 0 w 816290"/>
              <a:gd name="csY0" fmla="*/ 0 h 1884032"/>
              <a:gd name="csX1" fmla="*/ 662787 w 816290"/>
              <a:gd name="csY1" fmla="*/ 760977 h 1884032"/>
              <a:gd name="csX2" fmla="*/ 816210 w 816290"/>
              <a:gd name="csY2" fmla="*/ 1884032 h 1884032"/>
              <a:gd name="csX0" fmla="*/ 0 w 834621"/>
              <a:gd name="csY0" fmla="*/ 0 h 1884032"/>
              <a:gd name="csX1" fmla="*/ 662787 w 834621"/>
              <a:gd name="csY1" fmla="*/ 760977 h 1884032"/>
              <a:gd name="csX2" fmla="*/ 816210 w 834621"/>
              <a:gd name="csY2" fmla="*/ 1884032 h 1884032"/>
              <a:gd name="csX0" fmla="*/ 0 w 834621"/>
              <a:gd name="csY0" fmla="*/ 0 h 1884032"/>
              <a:gd name="csX1" fmla="*/ 662787 w 834621"/>
              <a:gd name="csY1" fmla="*/ 760977 h 1884032"/>
              <a:gd name="csX2" fmla="*/ 816210 w 834621"/>
              <a:gd name="csY2" fmla="*/ 1884032 h 1884032"/>
              <a:gd name="csX0" fmla="*/ 0 w 816290"/>
              <a:gd name="csY0" fmla="*/ 0 h 1884032"/>
              <a:gd name="csX1" fmla="*/ 662787 w 816290"/>
              <a:gd name="csY1" fmla="*/ 760977 h 1884032"/>
              <a:gd name="csX2" fmla="*/ 816210 w 816290"/>
              <a:gd name="csY2" fmla="*/ 1884032 h 1884032"/>
              <a:gd name="csX0" fmla="*/ 0 w 816251"/>
              <a:gd name="csY0" fmla="*/ 0 h 1884032"/>
              <a:gd name="csX1" fmla="*/ 662787 w 816251"/>
              <a:gd name="csY1" fmla="*/ 760977 h 1884032"/>
              <a:gd name="csX2" fmla="*/ 816210 w 816251"/>
              <a:gd name="csY2" fmla="*/ 1884032 h 1884032"/>
              <a:gd name="csX0" fmla="*/ 0 w 816245"/>
              <a:gd name="csY0" fmla="*/ 0 h 1884032"/>
              <a:gd name="csX1" fmla="*/ 662787 w 816245"/>
              <a:gd name="csY1" fmla="*/ 760977 h 1884032"/>
              <a:gd name="csX2" fmla="*/ 816210 w 816245"/>
              <a:gd name="csY2" fmla="*/ 1884032 h 1884032"/>
              <a:gd name="csX0" fmla="*/ 0 w 816415"/>
              <a:gd name="csY0" fmla="*/ 0 h 1884032"/>
              <a:gd name="csX1" fmla="*/ 736430 w 816415"/>
              <a:gd name="csY1" fmla="*/ 797799 h 1884032"/>
              <a:gd name="csX2" fmla="*/ 816210 w 816415"/>
              <a:gd name="csY2" fmla="*/ 1884032 h 1884032"/>
              <a:gd name="csX0" fmla="*/ 0 w 816291"/>
              <a:gd name="csY0" fmla="*/ 0 h 1884032"/>
              <a:gd name="csX1" fmla="*/ 736430 w 816291"/>
              <a:gd name="csY1" fmla="*/ 797799 h 1884032"/>
              <a:gd name="csX2" fmla="*/ 816210 w 816291"/>
              <a:gd name="csY2" fmla="*/ 1884032 h 1884032"/>
              <a:gd name="csX0" fmla="*/ 0 w 816235"/>
              <a:gd name="csY0" fmla="*/ 0 h 1884032"/>
              <a:gd name="csX1" fmla="*/ 650513 w 816235"/>
              <a:gd name="csY1" fmla="*/ 791662 h 1884032"/>
              <a:gd name="csX2" fmla="*/ 816210 w 816235"/>
              <a:gd name="csY2" fmla="*/ 1884032 h 1884032"/>
              <a:gd name="csX0" fmla="*/ 0 w 816251"/>
              <a:gd name="csY0" fmla="*/ 0 h 1884032"/>
              <a:gd name="csX1" fmla="*/ 650513 w 816251"/>
              <a:gd name="csY1" fmla="*/ 791662 h 1884032"/>
              <a:gd name="csX2" fmla="*/ 816210 w 816251"/>
              <a:gd name="csY2" fmla="*/ 1884032 h 1884032"/>
              <a:gd name="csX0" fmla="*/ 0 w 816241"/>
              <a:gd name="csY0" fmla="*/ 0 h 1884032"/>
              <a:gd name="csX1" fmla="*/ 650513 w 816241"/>
              <a:gd name="csY1" fmla="*/ 791662 h 1884032"/>
              <a:gd name="csX2" fmla="*/ 816210 w 816241"/>
              <a:gd name="csY2" fmla="*/ 1884032 h 1884032"/>
              <a:gd name="csX0" fmla="*/ 0 w 816265"/>
              <a:gd name="csY0" fmla="*/ 0 h 1884032"/>
              <a:gd name="csX1" fmla="*/ 693471 w 816265"/>
              <a:gd name="csY1" fmla="*/ 742567 h 1884032"/>
              <a:gd name="csX2" fmla="*/ 816210 w 816265"/>
              <a:gd name="csY2" fmla="*/ 1884032 h 188403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16265" h="1884032">
                <a:moveTo>
                  <a:pt x="0" y="0"/>
                </a:moveTo>
                <a:cubicBezTo>
                  <a:pt x="453108" y="230134"/>
                  <a:pt x="623920" y="601419"/>
                  <a:pt x="693471" y="742567"/>
                </a:cubicBezTo>
                <a:cubicBezTo>
                  <a:pt x="763022" y="883715"/>
                  <a:pt x="818256" y="1212040"/>
                  <a:pt x="816210" y="1884032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52BB686E-7D6C-A4B9-503B-8B219A5FEEBD}"/>
              </a:ext>
            </a:extLst>
          </p:cNvPr>
          <p:cNvSpPr/>
          <p:nvPr/>
        </p:nvSpPr>
        <p:spPr>
          <a:xfrm>
            <a:off x="8045495" y="1749020"/>
            <a:ext cx="834706" cy="1675377"/>
          </a:xfrm>
          <a:custGeom>
            <a:avLst/>
            <a:gdLst>
              <a:gd name="csX0" fmla="*/ 861986 w 861986"/>
              <a:gd name="csY0" fmla="*/ 0 h 1675377"/>
              <a:gd name="csX1" fmla="*/ 315801 w 861986"/>
              <a:gd name="csY1" fmla="*/ 607554 h 1675377"/>
              <a:gd name="csX2" fmla="*/ 27366 w 861986"/>
              <a:gd name="csY2" fmla="*/ 1675377 h 1675377"/>
              <a:gd name="csX0" fmla="*/ 861986 w 862033"/>
              <a:gd name="csY0" fmla="*/ 0 h 1675377"/>
              <a:gd name="csX1" fmla="*/ 315801 w 862033"/>
              <a:gd name="csY1" fmla="*/ 607554 h 1675377"/>
              <a:gd name="csX2" fmla="*/ 27366 w 862033"/>
              <a:gd name="csY2" fmla="*/ 1675377 h 1675377"/>
              <a:gd name="csX0" fmla="*/ 834620 w 834667"/>
              <a:gd name="csY0" fmla="*/ 0 h 1675377"/>
              <a:gd name="csX1" fmla="*/ 288435 w 834667"/>
              <a:gd name="csY1" fmla="*/ 607554 h 1675377"/>
              <a:gd name="csX2" fmla="*/ 0 w 834667"/>
              <a:gd name="csY2" fmla="*/ 1675377 h 1675377"/>
              <a:gd name="csX0" fmla="*/ 834620 w 834696"/>
              <a:gd name="csY0" fmla="*/ 0 h 1675377"/>
              <a:gd name="csX1" fmla="*/ 447995 w 834696"/>
              <a:gd name="csY1" fmla="*/ 638238 h 1675377"/>
              <a:gd name="csX2" fmla="*/ 0 w 834696"/>
              <a:gd name="csY2" fmla="*/ 1675377 h 1675377"/>
              <a:gd name="csX0" fmla="*/ 834620 w 834787"/>
              <a:gd name="csY0" fmla="*/ 0 h 1675377"/>
              <a:gd name="csX1" fmla="*/ 447995 w 834787"/>
              <a:gd name="csY1" fmla="*/ 638238 h 1675377"/>
              <a:gd name="csX2" fmla="*/ 0 w 834787"/>
              <a:gd name="csY2" fmla="*/ 1675377 h 1675377"/>
              <a:gd name="csX0" fmla="*/ 834620 w 834696"/>
              <a:gd name="csY0" fmla="*/ 0 h 1675377"/>
              <a:gd name="csX1" fmla="*/ 447995 w 834696"/>
              <a:gd name="csY1" fmla="*/ 638238 h 1675377"/>
              <a:gd name="csX2" fmla="*/ 0 w 834696"/>
              <a:gd name="csY2" fmla="*/ 1675377 h 1675377"/>
              <a:gd name="csX0" fmla="*/ 834620 w 834743"/>
              <a:gd name="csY0" fmla="*/ 0 h 1675377"/>
              <a:gd name="csX1" fmla="*/ 546185 w 834743"/>
              <a:gd name="csY1" fmla="*/ 718018 h 1675377"/>
              <a:gd name="csX2" fmla="*/ 0 w 834743"/>
              <a:gd name="csY2" fmla="*/ 1675377 h 1675377"/>
              <a:gd name="csX0" fmla="*/ 834620 w 834788"/>
              <a:gd name="csY0" fmla="*/ 0 h 1675377"/>
              <a:gd name="csX1" fmla="*/ 546185 w 834788"/>
              <a:gd name="csY1" fmla="*/ 718018 h 1675377"/>
              <a:gd name="csX2" fmla="*/ 0 w 834788"/>
              <a:gd name="csY2" fmla="*/ 1675377 h 1675377"/>
              <a:gd name="csX0" fmla="*/ 834620 w 834730"/>
              <a:gd name="csY0" fmla="*/ 0 h 1675377"/>
              <a:gd name="csX1" fmla="*/ 484816 w 834730"/>
              <a:gd name="csY1" fmla="*/ 705744 h 1675377"/>
              <a:gd name="csX2" fmla="*/ 0 w 834730"/>
              <a:gd name="csY2" fmla="*/ 1675377 h 1675377"/>
              <a:gd name="csX0" fmla="*/ 834620 w 834706"/>
              <a:gd name="csY0" fmla="*/ 0 h 1675377"/>
              <a:gd name="csX1" fmla="*/ 435721 w 834706"/>
              <a:gd name="csY1" fmla="*/ 705744 h 1675377"/>
              <a:gd name="csX2" fmla="*/ 0 w 834706"/>
              <a:gd name="csY2" fmla="*/ 1675377 h 16753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34706" h="1675377">
                <a:moveTo>
                  <a:pt x="834620" y="0"/>
                </a:moveTo>
                <a:cubicBezTo>
                  <a:pt x="839734" y="415775"/>
                  <a:pt x="617782" y="536978"/>
                  <a:pt x="435721" y="705744"/>
                </a:cubicBezTo>
                <a:cubicBezTo>
                  <a:pt x="253660" y="874510"/>
                  <a:pt x="22502" y="1184424"/>
                  <a:pt x="0" y="1675377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6033FE38-C73A-6432-11C5-C3E4D3F5B507}"/>
              </a:ext>
            </a:extLst>
          </p:cNvPr>
          <p:cNvSpPr/>
          <p:nvPr/>
        </p:nvSpPr>
        <p:spPr>
          <a:xfrm>
            <a:off x="3154373" y="1742883"/>
            <a:ext cx="1853348" cy="1914717"/>
          </a:xfrm>
          <a:custGeom>
            <a:avLst/>
            <a:gdLst>
              <a:gd name="csX0" fmla="*/ 1853348 w 1853348"/>
              <a:gd name="csY0" fmla="*/ 0 h 1914859"/>
              <a:gd name="csX1" fmla="*/ 1607871 w 1853348"/>
              <a:gd name="csY1" fmla="*/ 957359 h 1914859"/>
              <a:gd name="csX2" fmla="*/ 791662 w 1853348"/>
              <a:gd name="csY2" fmla="*/ 1675377 h 1914859"/>
              <a:gd name="csX3" fmla="*/ 0 w 1853348"/>
              <a:gd name="csY3" fmla="*/ 1914717 h 1914859"/>
              <a:gd name="csX0" fmla="*/ 1853348 w 1853348"/>
              <a:gd name="csY0" fmla="*/ 0 h 1914859"/>
              <a:gd name="csX1" fmla="*/ 1607871 w 1853348"/>
              <a:gd name="csY1" fmla="*/ 779389 h 1914859"/>
              <a:gd name="csX2" fmla="*/ 791662 w 1853348"/>
              <a:gd name="csY2" fmla="*/ 1675377 h 1914859"/>
              <a:gd name="csX3" fmla="*/ 0 w 1853348"/>
              <a:gd name="csY3" fmla="*/ 1914717 h 1914859"/>
              <a:gd name="csX0" fmla="*/ 1853348 w 1853348"/>
              <a:gd name="csY0" fmla="*/ 0 h 1914767"/>
              <a:gd name="csX1" fmla="*/ 1607871 w 1853348"/>
              <a:gd name="csY1" fmla="*/ 779389 h 1914767"/>
              <a:gd name="csX2" fmla="*/ 975769 w 1853348"/>
              <a:gd name="csY2" fmla="*/ 1515817 h 1914767"/>
              <a:gd name="csX3" fmla="*/ 0 w 1853348"/>
              <a:gd name="csY3" fmla="*/ 1914717 h 1914767"/>
              <a:gd name="csX0" fmla="*/ 1853348 w 1855793"/>
              <a:gd name="csY0" fmla="*/ 0 h 1914767"/>
              <a:gd name="csX1" fmla="*/ 1773568 w 1855793"/>
              <a:gd name="csY1" fmla="*/ 791663 h 1914767"/>
              <a:gd name="csX2" fmla="*/ 975769 w 1855793"/>
              <a:gd name="csY2" fmla="*/ 1515817 h 1914767"/>
              <a:gd name="csX3" fmla="*/ 0 w 1855793"/>
              <a:gd name="csY3" fmla="*/ 1914717 h 1914767"/>
              <a:gd name="csX0" fmla="*/ 1853348 w 1853348"/>
              <a:gd name="csY0" fmla="*/ 0 h 1914767"/>
              <a:gd name="csX1" fmla="*/ 1699925 w 1853348"/>
              <a:gd name="csY1" fmla="*/ 791663 h 1914767"/>
              <a:gd name="csX2" fmla="*/ 975769 w 1853348"/>
              <a:gd name="csY2" fmla="*/ 1515817 h 1914767"/>
              <a:gd name="csX3" fmla="*/ 0 w 1853348"/>
              <a:gd name="csY3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67"/>
              <a:gd name="csX1" fmla="*/ 975769 w 1853348"/>
              <a:gd name="csY1" fmla="*/ 1515817 h 1914767"/>
              <a:gd name="csX2" fmla="*/ 0 w 1853348"/>
              <a:gd name="csY2" fmla="*/ 1914717 h 191476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75769 w 1853348"/>
              <a:gd name="csY1" fmla="*/ 1515817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994180 w 1853348"/>
              <a:gd name="csY1" fmla="*/ 1515817 h 1914717"/>
              <a:gd name="csX2" fmla="*/ 0 w 1853348"/>
              <a:gd name="csY2" fmla="*/ 1914717 h 1914717"/>
              <a:gd name="csX0" fmla="*/ 1853348 w 2022388"/>
              <a:gd name="csY0" fmla="*/ 0 h 1914717"/>
              <a:gd name="csX1" fmla="*/ 1497407 w 2022388"/>
              <a:gd name="csY1" fmla="*/ 1411489 h 1914717"/>
              <a:gd name="csX2" fmla="*/ 0 w 2022388"/>
              <a:gd name="csY2" fmla="*/ 1914717 h 1914717"/>
              <a:gd name="csX0" fmla="*/ 1853348 w 1853348"/>
              <a:gd name="csY0" fmla="*/ 0 h 1914717"/>
              <a:gd name="csX1" fmla="*/ 1497407 w 1853348"/>
              <a:gd name="csY1" fmla="*/ 1411489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497407 w 1853348"/>
              <a:gd name="csY1" fmla="*/ 1411489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356258 w 1853348"/>
              <a:gd name="csY1" fmla="*/ 1245793 h 1914717"/>
              <a:gd name="csX2" fmla="*/ 0 w 1853348"/>
              <a:gd name="csY2" fmla="*/ 1914717 h 1914717"/>
              <a:gd name="csX0" fmla="*/ 1853348 w 1853348"/>
              <a:gd name="csY0" fmla="*/ 0 h 1914717"/>
              <a:gd name="csX1" fmla="*/ 1411490 w 1853348"/>
              <a:gd name="csY1" fmla="*/ 1288752 h 1914717"/>
              <a:gd name="csX2" fmla="*/ 0 w 1853348"/>
              <a:gd name="csY2" fmla="*/ 1914717 h 191471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853348" h="1914717">
                <a:moveTo>
                  <a:pt x="1853348" y="0"/>
                </a:moveTo>
                <a:cubicBezTo>
                  <a:pt x="1836216" y="420122"/>
                  <a:pt x="1679469" y="969632"/>
                  <a:pt x="1411490" y="1288752"/>
                </a:cubicBezTo>
                <a:cubicBezTo>
                  <a:pt x="1143511" y="1607872"/>
                  <a:pt x="751773" y="1863576"/>
                  <a:pt x="0" y="1914717"/>
                </a:cubicBezTo>
              </a:path>
            </a:pathLst>
          </a:cu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45D3167-45E5-8B01-60F3-D962826C95E4}"/>
              </a:ext>
            </a:extLst>
          </p:cNvPr>
          <p:cNvSpPr txBox="1"/>
          <p:nvPr/>
        </p:nvSpPr>
        <p:spPr>
          <a:xfrm>
            <a:off x="239338" y="171834"/>
            <a:ext cx="303685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System Architecture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87D571-A61D-ACAB-A67F-3C6887C4BD66}"/>
              </a:ext>
            </a:extLst>
          </p:cNvPr>
          <p:cNvSpPr txBox="1"/>
          <p:nvPr/>
        </p:nvSpPr>
        <p:spPr>
          <a:xfrm>
            <a:off x="239338" y="2759789"/>
            <a:ext cx="35614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 Electronic Components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6B07DF77-93EF-A2A4-935E-5C5C9FF7DFA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47963" y="755680"/>
            <a:ext cx="8860631" cy="188453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374EF51-47A7-098C-AD02-77AA396B5F3C}"/>
              </a:ext>
            </a:extLst>
          </p:cNvPr>
          <p:cNvSpPr txBox="1"/>
          <p:nvPr/>
        </p:nvSpPr>
        <p:spPr>
          <a:xfrm>
            <a:off x="6947968" y="5325109"/>
            <a:ext cx="2814874" cy="1328023"/>
          </a:xfrm>
          <a:prstGeom prst="roundRect">
            <a:avLst/>
          </a:prstGeom>
          <a:gradFill>
            <a:gsLst>
              <a:gs pos="0">
                <a:schemeClr val="accent4">
                  <a:satMod val="105000"/>
                  <a:tint val="67000"/>
                  <a:lumMod val="70000"/>
                  <a:lumOff val="30000"/>
                </a:schemeClr>
              </a:gs>
              <a:gs pos="50000">
                <a:schemeClr val="accent4">
                  <a:satMod val="103000"/>
                  <a:tint val="73000"/>
                  <a:lumMod val="75000"/>
                  <a:lumOff val="25000"/>
                </a:schemeClr>
              </a:gs>
              <a:gs pos="100000">
                <a:schemeClr val="accent4">
                  <a:satMod val="109000"/>
                  <a:tint val="81000"/>
                  <a:lumMod val="75000"/>
                  <a:lumOff val="25000"/>
                </a:schemeClr>
              </a:gs>
            </a:gsLst>
          </a:gra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b="1" dirty="0"/>
              <a:t>Li-ion cell</a:t>
            </a:r>
          </a:p>
          <a:p>
            <a:r>
              <a:rPr lang="en-US" altLang="zh-CN" dirty="0"/>
              <a:t>“The power supply”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Capacity: </a:t>
            </a:r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800 </a:t>
            </a:r>
            <a:r>
              <a:rPr lang="en-US" altLang="zh-C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Nominal voltage: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3.7 V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EA0BA9F-2CEF-DEDD-B3D0-96D5C607F65C}"/>
              </a:ext>
            </a:extLst>
          </p:cNvPr>
          <p:cNvGrpSpPr/>
          <p:nvPr/>
        </p:nvGrpSpPr>
        <p:grpSpPr>
          <a:xfrm>
            <a:off x="350437" y="3117849"/>
            <a:ext cx="4289123" cy="2542786"/>
            <a:chOff x="386626" y="3004526"/>
            <a:chExt cx="4289123" cy="254278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A4201F5-B7BC-C91D-845F-B7C2F5F4AC6E}"/>
                    </a:ext>
                  </a:extLst>
                </p:cNvPr>
                <p:cNvSpPr txBox="1"/>
                <p:nvPr/>
              </p:nvSpPr>
              <p:spPr>
                <a:xfrm>
                  <a:off x="386626" y="3606355"/>
                  <a:ext cx="4289123" cy="1940957"/>
                </a:xfrm>
                <a:prstGeom prst="roundRect">
                  <a:avLst/>
                </a:prstGeom>
                <a:gradFill>
                  <a:gsLst>
                    <a:gs pos="0">
                      <a:schemeClr val="accent4">
                        <a:satMod val="105000"/>
                        <a:tint val="67000"/>
                        <a:lumMod val="70000"/>
                        <a:lumOff val="30000"/>
                      </a:schemeClr>
                    </a:gs>
                    <a:gs pos="50000">
                      <a:schemeClr val="accent4">
                        <a:satMod val="103000"/>
                        <a:tint val="73000"/>
                        <a:lumMod val="75000"/>
                        <a:lumOff val="25000"/>
                      </a:schemeClr>
                    </a:gs>
                    <a:gs pos="100000">
                      <a:schemeClr val="accent4">
                        <a:satMod val="109000"/>
                        <a:tint val="81000"/>
                        <a:lumMod val="75000"/>
                        <a:lumOff val="25000"/>
                      </a:schemeClr>
                    </a:gs>
                  </a:gsLst>
                </a:gradFill>
                <a:effectLst/>
              </p:spPr>
              <p:style>
                <a:lnRef idx="1">
                  <a:schemeClr val="accent4"/>
                </a:lnRef>
                <a:fillRef idx="2">
                  <a:schemeClr val="accent4"/>
                </a:fillRef>
                <a:effectRef idx="1">
                  <a:schemeClr val="accent4"/>
                </a:effectRef>
                <a:fontRef idx="minor">
                  <a:schemeClr val="dk1"/>
                </a:fontRef>
              </p:style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MPU-6050 </a:t>
                  </a:r>
                  <a:r>
                    <a:rPr lang="en-US" altLang="zh-CN" b="1" dirty="0"/>
                    <a:t>IMU</a:t>
                  </a:r>
                </a:p>
                <a:p>
                  <a:r>
                    <a:rPr lang="en-US" dirty="0"/>
                    <a:t>“The state sensor”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Angular velocity res: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7.6×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−3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 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lit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∘</m:t>
                          </m:r>
                        </m:sup>
                      </m:sSup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m:rPr>
                          <m:lit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en-US" b="0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Acceleration res: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61×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𝑔</m:t>
                      </m:r>
                    </m:oMath>
                  </a14:m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Features: I2C</a:t>
                  </a:r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altLang="zh-CN" dirty="0"/>
                    <a:t>Communication speed: </a:t>
                  </a:r>
                  <a:r>
                    <a:rPr lang="en-US" altLang="zh-CN" dirty="0">
                      <a:latin typeface="Times New Roman" panose="02020603050405020304" pitchFamily="18" charset="0"/>
                      <a:cs typeface="Times New Roman" panose="02020603050405020304" pitchFamily="18" charset="0"/>
                    </a:rPr>
                    <a:t>400 kHz</a:t>
                  </a:r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4A4201F5-B7BC-C91D-845F-B7C2F5F4AC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626" y="3606355"/>
                  <a:ext cx="4289123" cy="1940957"/>
                </a:xfrm>
                <a:prstGeom prst="round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296B987A-3882-1B0E-FB6E-0F30B8D982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129267" y="3004526"/>
              <a:ext cx="1663646" cy="1054519"/>
            </a:xfrm>
            <a:prstGeom prst="rect">
              <a:avLst/>
            </a:prstGeom>
          </p:spPr>
        </p:pic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97B3C8D-B7D7-6A29-9687-035C297EF383}"/>
              </a:ext>
            </a:extLst>
          </p:cNvPr>
          <p:cNvGrpSpPr/>
          <p:nvPr/>
        </p:nvGrpSpPr>
        <p:grpSpPr>
          <a:xfrm>
            <a:off x="4882404" y="2581276"/>
            <a:ext cx="4559171" cy="2470662"/>
            <a:chOff x="4955833" y="2740715"/>
            <a:chExt cx="4559171" cy="2470662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99CAB77-B0FF-BCA8-4DDE-F8FDC2108E82}"/>
                </a:ext>
              </a:extLst>
            </p:cNvPr>
            <p:cNvSpPr txBox="1"/>
            <p:nvPr/>
          </p:nvSpPr>
          <p:spPr>
            <a:xfrm>
              <a:off x="4955833" y="3883354"/>
              <a:ext cx="3040015" cy="1328023"/>
            </a:xfrm>
            <a:prstGeom prst="roundRect">
              <a:avLst/>
            </a:prstGeom>
            <a:gradFill>
              <a:gsLst>
                <a:gs pos="0">
                  <a:schemeClr val="accent4">
                    <a:satMod val="105000"/>
                    <a:tint val="67000"/>
                    <a:lumMod val="70000"/>
                    <a:lumOff val="30000"/>
                  </a:schemeClr>
                </a:gs>
                <a:gs pos="50000">
                  <a:schemeClr val="accent4">
                    <a:satMod val="103000"/>
                    <a:tint val="73000"/>
                    <a:lumMod val="75000"/>
                    <a:lumOff val="25000"/>
                  </a:schemeClr>
                </a:gs>
                <a:gs pos="100000">
                  <a:schemeClr val="accent4">
                    <a:satMod val="109000"/>
                    <a:tint val="81000"/>
                    <a:lumMod val="75000"/>
                    <a:lumOff val="25000"/>
                  </a:schemeClr>
                </a:gs>
              </a:gsLst>
            </a:gra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/>
                <a:t>Arduino UNO</a:t>
              </a:r>
            </a:p>
            <a:p>
              <a:r>
                <a:rPr lang="en-US" dirty="0"/>
                <a:t> “The central processor”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Clocking speed: </a:t>
              </a:r>
              <a:r>
                <a:rPr lang="en-U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16 MHz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cs typeface="Times New Roman" panose="02020603050405020304" pitchFamily="18" charset="0"/>
                </a:rPr>
                <a:t>Features: I2C, PWM</a:t>
              </a:r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B990069-F2A1-F502-555D-F4A69C5B4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8164" y="2740715"/>
              <a:ext cx="3376840" cy="2140445"/>
            </a:xfrm>
            <a:prstGeom prst="rect">
              <a:avLst/>
            </a:prstGeom>
          </p:spPr>
        </p:pic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7E324EF-DA26-7572-390F-1D6286CD2023}"/>
              </a:ext>
            </a:extLst>
          </p:cNvPr>
          <p:cNvGrpSpPr/>
          <p:nvPr/>
        </p:nvGrpSpPr>
        <p:grpSpPr>
          <a:xfrm>
            <a:off x="8894655" y="2717046"/>
            <a:ext cx="3771164" cy="2334892"/>
            <a:chOff x="8940685" y="2926910"/>
            <a:chExt cx="3771164" cy="233489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5FFFAD8-DF9E-A8C7-55B2-14CBA58C6A73}"/>
                </a:ext>
              </a:extLst>
            </p:cNvPr>
            <p:cNvSpPr txBox="1"/>
            <p:nvPr/>
          </p:nvSpPr>
          <p:spPr>
            <a:xfrm>
              <a:off x="8940685" y="3933779"/>
              <a:ext cx="2983336" cy="1328023"/>
            </a:xfrm>
            <a:prstGeom prst="roundRect">
              <a:avLst/>
            </a:prstGeom>
            <a:gradFill>
              <a:gsLst>
                <a:gs pos="0">
                  <a:schemeClr val="accent4">
                    <a:satMod val="105000"/>
                    <a:tint val="67000"/>
                    <a:lumMod val="70000"/>
                    <a:lumOff val="30000"/>
                  </a:schemeClr>
                </a:gs>
                <a:gs pos="50000">
                  <a:schemeClr val="accent4">
                    <a:satMod val="103000"/>
                    <a:tint val="73000"/>
                    <a:lumMod val="75000"/>
                    <a:lumOff val="25000"/>
                  </a:schemeClr>
                </a:gs>
                <a:gs pos="100000">
                  <a:schemeClr val="accent4">
                    <a:satMod val="109000"/>
                    <a:tint val="81000"/>
                    <a:lumMod val="75000"/>
                    <a:lumOff val="25000"/>
                  </a:schemeClr>
                </a:gs>
              </a:gsLst>
            </a:gradFill>
          </p:spPr>
          <p:style>
            <a:lnRef idx="1">
              <a:schemeClr val="accent4"/>
            </a:lnRef>
            <a:fillRef idx="2">
              <a:schemeClr val="accent4"/>
            </a:fillRef>
            <a:effectRef idx="1">
              <a:schemeClr val="accent4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r>
                <a:rPr lang="en-US" b="1" dirty="0"/>
                <a:t>L298N motor driver</a:t>
              </a:r>
            </a:p>
            <a:p>
              <a:r>
                <a:rPr lang="en-US" dirty="0"/>
                <a:t>“The action driver” 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Power outpu</a:t>
              </a:r>
              <a:r>
                <a:rPr lang="en-US" altLang="zh-CN" dirty="0"/>
                <a:t>t: </a:t>
              </a:r>
              <a:r>
                <a:rPr lang="en-US" altLang="zh-CN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3.2 - 40 V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>
                  <a:cs typeface="Times New Roman" panose="02020603050405020304" pitchFamily="18" charset="0"/>
                </a:rPr>
                <a:t>Features: PWM</a:t>
              </a:r>
            </a:p>
          </p:txBody>
        </p:sp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65A3378F-2B13-7676-E148-30B72FF4D34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262989" y="2926910"/>
              <a:ext cx="2448860" cy="155223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6710402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EFDA6A-4565-18BA-BFCA-9B7B354D4438}"/>
              </a:ext>
            </a:extLst>
          </p:cNvPr>
          <p:cNvSpPr txBox="1"/>
          <p:nvPr/>
        </p:nvSpPr>
        <p:spPr>
          <a:xfrm>
            <a:off x="239338" y="171834"/>
            <a:ext cx="49987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Mechanical Design: </a:t>
            </a:r>
            <a:r>
              <a:rPr lang="en-US" sz="2400" dirty="0"/>
              <a:t>Physical Model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C8F14B21-7478-CDC2-6D5B-550C6522CC9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93475" y="804141"/>
            <a:ext cx="3228827" cy="243403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2F07C9-2BD5-FBAF-306E-41F423DDED1D}"/>
                  </a:ext>
                </a:extLst>
              </p:cNvPr>
              <p:cNvSpPr txBox="1"/>
              <p:nvPr/>
            </p:nvSpPr>
            <p:spPr>
              <a:xfrm>
                <a:off x="602751" y="5772842"/>
                <a:ext cx="5135413" cy="60869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̇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unc>
                            <m:func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sSup>
                                    <m:sSup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e>
                                    <m:sup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fName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</m:func>
                            </m:e>
                          </m:d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E52F07C9-2BD5-FBAF-306E-41F423DDED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751" y="5772842"/>
                <a:ext cx="5135413" cy="6086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098D114-DABC-1934-8A98-C36416A3CE45}"/>
                  </a:ext>
                </a:extLst>
              </p:cNvPr>
              <p:cNvSpPr txBox="1"/>
              <p:nvPr/>
            </p:nvSpPr>
            <p:spPr>
              <a:xfrm>
                <a:off x="6681724" y="633499"/>
                <a:ext cx="4862550" cy="160390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zh-CN" b="1" dirty="0"/>
                  <a:t>Case 1: tiny perturbation    </a:t>
                </a:r>
                <a:r>
                  <a:rPr lang="en-US" altLang="zh-CN" dirty="0"/>
                  <a:t>(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≳0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dirty="0"/>
                  <a:t> )</a:t>
                </a:r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>
                  <a:lnSpc>
                    <a:spcPct val="6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̈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i="1">
                          <a:latin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𝑔</m:t>
                          </m:r>
                          <m:func>
                            <m:func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func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𝑙𝑀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>
                  <a:lnSpc>
                    <a:spcPct val="60000"/>
                  </a:lnSpc>
                </a:pPr>
                <a:endParaRPr lang="en-US" altLang="zh-CN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altLang="zh-CN" dirty="0"/>
                  <a:t>W</a:t>
                </a:r>
                <a:r>
                  <a:rPr lang="en-US" dirty="0"/>
                  <a:t>e want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to be as small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large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  <a:r>
                  <a:rPr lang="en-US" dirty="0"/>
                  <a:t> and small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m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4098D114-DABC-1934-8A98-C36416A3CE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633499"/>
                <a:ext cx="4862550" cy="1603901"/>
              </a:xfrm>
              <a:prstGeom prst="rect">
                <a:avLst/>
              </a:prstGeom>
              <a:blipFill>
                <a:blip r:embed="rId4"/>
                <a:stretch>
                  <a:fillRect l="-1003" t="-1141" r="-125" b="-5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6C7C78-3B94-3CFF-46C8-F8CF6A4C6047}"/>
                  </a:ext>
                </a:extLst>
              </p:cNvPr>
              <p:cNvSpPr txBox="1"/>
              <p:nvPr/>
            </p:nvSpPr>
            <p:spPr>
              <a:xfrm>
                <a:off x="6681724" y="3001156"/>
                <a:ext cx="5166158" cy="143475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Case 2: dynamic equilibrium   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≈</m:t>
                    </m:r>
                    <m:acc>
                      <m:accPr>
                        <m:chr m:val="̇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≈0</m:t>
                    </m:r>
                  </m:oMath>
                </a14:m>
                <a:r>
                  <a:rPr lang="en-US" dirty="0"/>
                  <a:t>)</a:t>
                </a:r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>
                  <a:lnSpc>
                    <a:spcPct val="6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𝑔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tan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pPr>
                  <a:lnSpc>
                    <a:spcPct val="60000"/>
                  </a:lnSpc>
                </a:pPr>
                <a:endParaRPr lang="en-US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want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to recover as soon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26C7C78-3B94-3CFF-46C8-F8CF6A4C60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3001156"/>
                <a:ext cx="5166158" cy="1434752"/>
              </a:xfrm>
              <a:prstGeom prst="rect">
                <a:avLst/>
              </a:prstGeom>
              <a:blipFill>
                <a:blip r:embed="rId5"/>
                <a:stretch>
                  <a:fillRect l="-943" t="-847" b="-59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DF2F6C-6A32-D634-453D-37C88C425D61}"/>
                  </a:ext>
                </a:extLst>
              </p:cNvPr>
              <p:cNvSpPr txBox="1"/>
              <p:nvPr/>
            </p:nvSpPr>
            <p:spPr>
              <a:xfrm>
                <a:off x="6681724" y="5199665"/>
                <a:ext cx="4745082" cy="94897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Case 3: severely unbalanced    </a:t>
                </a:r>
                <a:r>
                  <a:rPr lang="en-US" dirty="0"/>
                  <a:t>(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i="1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want </a:t>
                </a:r>
                <a14:m>
                  <m:oMath xmlns:m="http://schemas.openxmlformats.org/officeDocument/2006/math">
                    <m:acc>
                      <m:accPr>
                        <m:chr m:val="̈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en-US" dirty="0"/>
                  <a:t> as negative as possible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dirty="0"/>
                  <a:t>We need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≫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small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l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DF2F6C-6A32-D634-453D-37C88C425D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1724" y="5199665"/>
                <a:ext cx="4745082" cy="948978"/>
              </a:xfrm>
              <a:prstGeom prst="rect">
                <a:avLst/>
              </a:prstGeom>
              <a:blipFill>
                <a:blip r:embed="rId6"/>
                <a:stretch>
                  <a:fillRect l="-1028" t="-1923" r="-257" b="-9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5D8FEBD4-DE28-99B1-5EEB-340EB18C585A}"/>
              </a:ext>
            </a:extLst>
          </p:cNvPr>
          <p:cNvSpPr txBox="1"/>
          <p:nvPr/>
        </p:nvSpPr>
        <p:spPr>
          <a:xfrm>
            <a:off x="239338" y="3246017"/>
            <a:ext cx="29311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 </a:t>
            </a:r>
            <a:r>
              <a:rPr lang="en-US" dirty="0" err="1"/>
              <a:t>Lagrangian</a:t>
            </a:r>
            <a:r>
              <a:rPr lang="en-US" dirty="0"/>
              <a:t> mechanics: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E24EFE-3A8D-8CF0-A704-2AED4A0883DE}"/>
                  </a:ext>
                </a:extLst>
              </p:cNvPr>
              <p:cNvSpPr txBox="1"/>
              <p:nvPr/>
            </p:nvSpPr>
            <p:spPr>
              <a:xfrm>
                <a:off x="269343" y="3615349"/>
                <a:ext cx="5946628" cy="5186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𝑀</m:t>
                      </m:r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̇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𝑙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  <m:t>𝜃</m:t>
                                      </m:r>
                                    </m:e>
                                  </m:func>
                                </m:e>
                              </m:d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𝑚𝑔𝑙</m:t>
                      </m:r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EE24EFE-3A8D-8CF0-A704-2AED4A0883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343" y="3615349"/>
                <a:ext cx="5946628" cy="518604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9255-4789-F93B-91EB-453EDA203369}"/>
                  </a:ext>
                </a:extLst>
              </p:cNvPr>
              <p:cNvSpPr txBox="1"/>
              <p:nvPr/>
            </p:nvSpPr>
            <p:spPr>
              <a:xfrm>
                <a:off x="1173344" y="4315238"/>
                <a:ext cx="1565364" cy="52668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B8D49255-4789-F93B-91EB-453EDA20336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73344" y="4315238"/>
                <a:ext cx="1565364" cy="52668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BE77-E521-951A-5809-4468F4C57520}"/>
                  </a:ext>
                </a:extLst>
              </p:cNvPr>
              <p:cNvSpPr txBox="1"/>
              <p:nvPr/>
            </p:nvSpPr>
            <p:spPr>
              <a:xfrm>
                <a:off x="3682268" y="4304595"/>
                <a:ext cx="1555811" cy="5479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acc>
                            <m:accPr>
                              <m:chr m:val="̇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𝜕𝜃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559BE77-E521-951A-5809-4468F4C57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82268" y="4304595"/>
                <a:ext cx="1555811" cy="5479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Arrow: Down 8">
            <a:extLst>
              <a:ext uri="{FF2B5EF4-FFF2-40B4-BE49-F238E27FC236}">
                <a16:creationId xmlns:a16="http://schemas.microsoft.com/office/drawing/2014/main" id="{69726BB3-38FE-BB1A-AE93-C3266CF0D586}"/>
              </a:ext>
            </a:extLst>
          </p:cNvPr>
          <p:cNvSpPr/>
          <p:nvPr/>
        </p:nvSpPr>
        <p:spPr>
          <a:xfrm>
            <a:off x="2998669" y="5003035"/>
            <a:ext cx="487975" cy="608693"/>
          </a:xfrm>
          <a:prstGeom prst="down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31845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F2DE2-D1DF-9B4F-3DA6-E128ADD780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F846EE-6D73-6635-1BCE-5658F6BDD47D}"/>
              </a:ext>
            </a:extLst>
          </p:cNvPr>
          <p:cNvSpPr txBox="1"/>
          <p:nvPr/>
        </p:nvSpPr>
        <p:spPr>
          <a:xfrm>
            <a:off x="239338" y="171834"/>
            <a:ext cx="60180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Mechanical Design: </a:t>
            </a:r>
            <a:r>
              <a:rPr lang="en-US" sz="2400" dirty="0"/>
              <a:t>Chassis and</a:t>
            </a:r>
            <a:r>
              <a:rPr lang="zh-CN" altLang="en-US" sz="2400" dirty="0"/>
              <a:t> </a:t>
            </a:r>
            <a:r>
              <a:rPr lang="en-US" altLang="zh-CN" sz="2400" dirty="0"/>
              <a:t>Assemble</a:t>
            </a:r>
            <a:endParaRPr lang="en-US" sz="2400" dirty="0"/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E619CC4-BB89-D7AC-7361-41B2E2B540CA}"/>
              </a:ext>
            </a:extLst>
          </p:cNvPr>
          <p:cNvGrpSpPr/>
          <p:nvPr/>
        </p:nvGrpSpPr>
        <p:grpSpPr>
          <a:xfrm>
            <a:off x="298241" y="828027"/>
            <a:ext cx="3075645" cy="2820620"/>
            <a:chOff x="728172" y="706583"/>
            <a:chExt cx="3075645" cy="282062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97DEB5B-8A2F-0B43-D1B5-2F76EE6C155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75812" y="706583"/>
              <a:ext cx="1980363" cy="495091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558739BC-A756-B854-31BF-83DF891D1F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172" y="1201674"/>
              <a:ext cx="3075645" cy="2325529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F11DF494-ADE6-E12E-5F28-358E9DE49D25}"/>
              </a:ext>
            </a:extLst>
          </p:cNvPr>
          <p:cNvGrpSpPr/>
          <p:nvPr/>
        </p:nvGrpSpPr>
        <p:grpSpPr>
          <a:xfrm>
            <a:off x="4487669" y="829561"/>
            <a:ext cx="3040438" cy="2820620"/>
            <a:chOff x="728172" y="3822191"/>
            <a:chExt cx="3040438" cy="2820620"/>
          </a:xfrm>
        </p:grpSpPr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BA2E60F4-7B8B-557B-5E33-ACAD31457AA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172" y="4317282"/>
              <a:ext cx="3040438" cy="2325529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B58B47FF-6962-C5C2-BB3A-B9ADEBF5285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23240" y="3822191"/>
              <a:ext cx="1650301" cy="495091"/>
            </a:xfrm>
            <a:prstGeom prst="rect">
              <a:avLst/>
            </a:prstGeom>
          </p:spPr>
        </p:pic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6AF3BC1F-2898-59C7-E076-C7773E3D889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889" y="828027"/>
            <a:ext cx="2115611" cy="2820813"/>
          </a:xfrm>
          <a:prstGeom prst="rect">
            <a:avLst/>
          </a:prstGeom>
        </p:spPr>
      </p:pic>
      <p:pic>
        <p:nvPicPr>
          <p:cNvPr id="18" name="Graphic 17">
            <a:extLst>
              <a:ext uri="{FF2B5EF4-FFF2-40B4-BE49-F238E27FC236}">
                <a16:creationId xmlns:a16="http://schemas.microsoft.com/office/drawing/2014/main" id="{29C81F0B-D9AB-556C-0F9E-FC8148A076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515944" y="3960039"/>
            <a:ext cx="2367503" cy="2492285"/>
          </a:xfrm>
          <a:prstGeom prst="rect">
            <a:avLst/>
          </a:prstGeom>
        </p:spPr>
      </p:pic>
      <p:pic>
        <p:nvPicPr>
          <p:cNvPr id="20" name="Graphic 19">
            <a:extLst>
              <a:ext uri="{FF2B5EF4-FFF2-40B4-BE49-F238E27FC236}">
                <a16:creationId xmlns:a16="http://schemas.microsoft.com/office/drawing/2014/main" id="{0CBBE1AE-6712-4F34-76F9-E67A2105C49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75243" y="4219890"/>
            <a:ext cx="3352864" cy="1977813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AFF23B7A-6466-9798-F006-AE5DDA63D36B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sharpenSoften amount="60000"/>
                    </a14:imgEffect>
                    <a14:imgEffect>
                      <a14:brightnessContrast bright="5000" contrast="6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0591" y="3961346"/>
            <a:ext cx="1992782" cy="2490978"/>
          </a:xfrm>
          <a:prstGeom prst="rect">
            <a:avLst/>
          </a:prstGeom>
        </p:spPr>
      </p:pic>
      <p:sp>
        <p:nvSpPr>
          <p:cNvPr id="27" name="Arrow: Right 26">
            <a:extLst>
              <a:ext uri="{FF2B5EF4-FFF2-40B4-BE49-F238E27FC236}">
                <a16:creationId xmlns:a16="http://schemas.microsoft.com/office/drawing/2014/main" id="{F980CF19-36D9-70CF-4528-35299586C437}"/>
              </a:ext>
            </a:extLst>
          </p:cNvPr>
          <p:cNvSpPr/>
          <p:nvPr/>
        </p:nvSpPr>
        <p:spPr>
          <a:xfrm>
            <a:off x="3659315" y="231999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912DFF73-A49E-779D-115A-829C708BAA65}"/>
              </a:ext>
            </a:extLst>
          </p:cNvPr>
          <p:cNvSpPr/>
          <p:nvPr/>
        </p:nvSpPr>
        <p:spPr>
          <a:xfrm>
            <a:off x="7813535" y="231999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Arrow: Curved Left 28">
            <a:extLst>
              <a:ext uri="{FF2B5EF4-FFF2-40B4-BE49-F238E27FC236}">
                <a16:creationId xmlns:a16="http://schemas.microsoft.com/office/drawing/2014/main" id="{B65B27EE-3F84-B535-0BA0-D9F8206F37D0}"/>
              </a:ext>
            </a:extLst>
          </p:cNvPr>
          <p:cNvSpPr/>
          <p:nvPr/>
        </p:nvSpPr>
        <p:spPr>
          <a:xfrm>
            <a:off x="11028459" y="2393157"/>
            <a:ext cx="963062" cy="2979570"/>
          </a:xfrm>
          <a:prstGeom prst="curvedLeftArrow">
            <a:avLst>
              <a:gd name="adj1" fmla="val 16849"/>
              <a:gd name="adj2" fmla="val 31689"/>
              <a:gd name="adj3" fmla="val 20286"/>
            </a:avLst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30" name="Arrow: Right 29">
            <a:extLst>
              <a:ext uri="{FF2B5EF4-FFF2-40B4-BE49-F238E27FC236}">
                <a16:creationId xmlns:a16="http://schemas.microsoft.com/office/drawing/2014/main" id="{FB6007A1-4D2B-7FA4-8142-76C46E7CDDD2}"/>
              </a:ext>
            </a:extLst>
          </p:cNvPr>
          <p:cNvSpPr/>
          <p:nvPr/>
        </p:nvSpPr>
        <p:spPr>
          <a:xfrm rot="10800000">
            <a:off x="7750563" y="5040943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Arrow: Right 30">
            <a:extLst>
              <a:ext uri="{FF2B5EF4-FFF2-40B4-BE49-F238E27FC236}">
                <a16:creationId xmlns:a16="http://schemas.microsoft.com/office/drawing/2014/main" id="{8705EF6D-7439-036B-6FF4-68CBF9ABA4F6}"/>
              </a:ext>
            </a:extLst>
          </p:cNvPr>
          <p:cNvSpPr/>
          <p:nvPr/>
        </p:nvSpPr>
        <p:spPr>
          <a:xfrm rot="10800000">
            <a:off x="3337845" y="504028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23414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5A4913-6FBC-EB85-7BC6-E940C39AD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2171CEA-B7D5-B921-3F94-7C90B827F56D}"/>
              </a:ext>
            </a:extLst>
          </p:cNvPr>
          <p:cNvSpPr txBox="1"/>
          <p:nvPr/>
        </p:nvSpPr>
        <p:spPr>
          <a:xfrm>
            <a:off x="239338" y="171834"/>
            <a:ext cx="3342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Signal Processing: </a:t>
            </a:r>
            <a:r>
              <a:rPr lang="en-US" altLang="zh-CN" sz="2400" dirty="0"/>
              <a:t>IMU</a:t>
            </a:r>
            <a:endParaRPr lang="en-US" sz="2400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A16446C9-0545-3727-F5DE-99990074DED6}"/>
              </a:ext>
            </a:extLst>
          </p:cNvPr>
          <p:cNvGrpSpPr/>
          <p:nvPr/>
        </p:nvGrpSpPr>
        <p:grpSpPr>
          <a:xfrm>
            <a:off x="7331437" y="3206234"/>
            <a:ext cx="3289483" cy="3134791"/>
            <a:chOff x="9576800" y="-733995"/>
            <a:chExt cx="3289483" cy="3134791"/>
          </a:xfrm>
        </p:grpSpPr>
        <p:pic>
          <p:nvPicPr>
            <p:cNvPr id="1026" name="Picture 2" descr="Quaternions">
              <a:extLst>
                <a:ext uri="{FF2B5EF4-FFF2-40B4-BE49-F238E27FC236}">
                  <a16:creationId xmlns:a16="http://schemas.microsoft.com/office/drawing/2014/main" id="{7FB6ACC0-E3A3-5FE7-6EF0-A5D397466B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576800" y="-733995"/>
              <a:ext cx="3289483" cy="282371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38238DF-3AC8-F437-4EDE-F0A71F48CFB3}"/>
                </a:ext>
              </a:extLst>
            </p:cNvPr>
            <p:cNvSpPr txBox="1"/>
            <p:nvPr/>
          </p:nvSpPr>
          <p:spPr>
            <a:xfrm>
              <a:off x="10579182" y="2154575"/>
              <a:ext cx="1048685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/>
                <a:t>Quaternions [3]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E1A601A-5517-A373-CC9C-DE8AA386763A}"/>
              </a:ext>
            </a:extLst>
          </p:cNvPr>
          <p:cNvGrpSpPr/>
          <p:nvPr/>
        </p:nvGrpSpPr>
        <p:grpSpPr>
          <a:xfrm>
            <a:off x="6099654" y="762079"/>
            <a:ext cx="5753050" cy="2337173"/>
            <a:chOff x="5527478" y="1242189"/>
            <a:chExt cx="5753050" cy="2337173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45C880B-6043-B2BB-2BAA-1F41809155C3}"/>
                </a:ext>
              </a:extLst>
            </p:cNvPr>
            <p:cNvSpPr txBox="1"/>
            <p:nvPr/>
          </p:nvSpPr>
          <p:spPr>
            <a:xfrm>
              <a:off x="5527478" y="1242189"/>
              <a:ext cx="163544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b="1" dirty="0"/>
                <a:t>Quaternion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7AC71B-E95E-64DE-8864-0C2FC1921C9C}"/>
                    </a:ext>
                  </a:extLst>
                </p:cNvPr>
                <p:cNvSpPr txBox="1"/>
                <p:nvPr/>
              </p:nvSpPr>
              <p:spPr>
                <a:xfrm>
                  <a:off x="5527478" y="2256371"/>
                  <a:ext cx="5753050" cy="132299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Represents the current state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Shows the object has rotated around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</m:d>
                    </m:oMath>
                  </a14:m>
                  <a:r>
                    <a:rPr lang="en-US" dirty="0"/>
                    <a:t> by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endPara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endParaRP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More efficient and stable than Euler angles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>
                      <a:cs typeface="Times New Roman" panose="02020603050405020304" pitchFamily="18" charset="0"/>
                    </a:rPr>
                    <a:t>Update state: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+1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+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⋅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𝑞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𝑛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⊗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𝜔</m:t>
                      </m:r>
                    </m:oMath>
                  </a14:m>
                  <a:endParaRPr lang="en-US" dirty="0">
                    <a:cs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567AC71B-E95E-64DE-8864-0C2FC1921C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7478" y="2256371"/>
                  <a:ext cx="5753050" cy="1322991"/>
                </a:xfrm>
                <a:prstGeom prst="rect">
                  <a:avLst/>
                </a:prstGeom>
                <a:blipFill>
                  <a:blip r:embed="rId4"/>
                  <a:stretch>
                    <a:fillRect l="-742" t="-1843" b="-2765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8C57783-4FBA-0189-4F3F-47B5CE905ADA}"/>
                    </a:ext>
                  </a:extLst>
                </p:cNvPr>
                <p:cNvSpPr txBox="1"/>
                <p:nvPr/>
              </p:nvSpPr>
              <p:spPr>
                <a:xfrm>
                  <a:off x="5527478" y="1780057"/>
                  <a:ext cx="2494771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=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C8C57783-4FBA-0189-4F3F-47B5CE905A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27478" y="1780057"/>
                  <a:ext cx="2494771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655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C8DBFC-227B-0E68-DD5F-77D1CB1668E3}"/>
              </a:ext>
            </a:extLst>
          </p:cNvPr>
          <p:cNvGrpSpPr/>
          <p:nvPr/>
        </p:nvGrpSpPr>
        <p:grpSpPr>
          <a:xfrm>
            <a:off x="621594" y="762079"/>
            <a:ext cx="5255688" cy="5660127"/>
            <a:chOff x="498856" y="892792"/>
            <a:chExt cx="5255688" cy="5660127"/>
          </a:xfrm>
        </p:grpSpPr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BF911E48-3FE2-F851-5125-0CDEB933F2AD}"/>
                </a:ext>
              </a:extLst>
            </p:cNvPr>
            <p:cNvSpPr txBox="1"/>
            <p:nvPr/>
          </p:nvSpPr>
          <p:spPr>
            <a:xfrm>
              <a:off x="498856" y="892792"/>
              <a:ext cx="2002728" cy="43088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200" b="1" dirty="0"/>
                <a:t>Sensor Fusion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417C505-0504-D4B7-03CC-C84441538D8D}"/>
                    </a:ext>
                  </a:extLst>
                </p:cNvPr>
                <p:cNvSpPr txBox="1"/>
                <p:nvPr/>
              </p:nvSpPr>
              <p:spPr>
                <a:xfrm>
                  <a:off x="682963" y="1430660"/>
                  <a:ext cx="4290855" cy="120032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b="1" dirty="0"/>
                    <a:t>Gyroscope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Measure angular velocities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𝜔</m:t>
                      </m:r>
                    </m:oMath>
                  </a14:m>
                  <a:endParaRPr lang="en-US" dirty="0"/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Give </a:t>
                  </a:r>
                  <a:r>
                    <a:rPr lang="en-US" b="1" dirty="0"/>
                    <a:t>yaw</a:t>
                  </a:r>
                  <a:r>
                    <a:rPr lang="en-US" dirty="0"/>
                    <a:t>, </a:t>
                  </a:r>
                  <a:r>
                    <a:rPr lang="en-US" b="1" dirty="0"/>
                    <a:t>pitch</a:t>
                  </a:r>
                  <a:r>
                    <a:rPr lang="en-US" dirty="0"/>
                    <a:t>, and </a:t>
                  </a:r>
                  <a:r>
                    <a:rPr lang="en-US" b="1" dirty="0"/>
                    <a:t>roll</a:t>
                  </a:r>
                  <a:r>
                    <a:rPr lang="en-US" dirty="0"/>
                    <a:t> by integrating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:r>
                    <a:rPr lang="en-US" dirty="0"/>
                    <a:t>Cons: drift over time</a:t>
                  </a:r>
                </a:p>
              </p:txBody>
            </p:sp>
          </mc:Choice>
          <mc:Fallback xmlns="">
            <p:sp>
              <p:nvSpPr>
                <p:cNvPr id="3" name="TextBox 2">
                  <a:extLst>
                    <a:ext uri="{FF2B5EF4-FFF2-40B4-BE49-F238E27FC236}">
                      <a16:creationId xmlns:a16="http://schemas.microsoft.com/office/drawing/2014/main" id="{E417C505-0504-D4B7-03CC-C84441538D8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2963" y="1430660"/>
                  <a:ext cx="4290855" cy="1200329"/>
                </a:xfrm>
                <a:prstGeom prst="rect">
                  <a:avLst/>
                </a:prstGeom>
                <a:blipFill>
                  <a:blip r:embed="rId6"/>
                  <a:stretch>
                    <a:fillRect l="-1136" t="-2030" r="-568" b="-761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64E86E-4E13-14B4-39DB-6F3339A3C115}"/>
                </a:ext>
              </a:extLst>
            </p:cNvPr>
            <p:cNvSpPr txBox="1"/>
            <p:nvPr/>
          </p:nvSpPr>
          <p:spPr>
            <a:xfrm>
              <a:off x="682963" y="2737970"/>
              <a:ext cx="5071581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Accelerometer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Measure accelerations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Determine </a:t>
              </a:r>
              <a:r>
                <a:rPr lang="en-US" b="1" dirty="0"/>
                <a:t>pitch</a:t>
              </a:r>
              <a:r>
                <a:rPr lang="en-US" dirty="0"/>
                <a:t> and </a:t>
              </a:r>
              <a:r>
                <a:rPr lang="en-US" b="1" dirty="0"/>
                <a:t>roll</a:t>
              </a:r>
              <a:r>
                <a:rPr lang="en-US" dirty="0"/>
                <a:t> from gravity direction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Cons: noisy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711D0F7-2D63-D306-0BE7-DB83C7D55419}"/>
                </a:ext>
              </a:extLst>
            </p:cNvPr>
            <p:cNvSpPr txBox="1"/>
            <p:nvPr/>
          </p:nvSpPr>
          <p:spPr>
            <a:xfrm>
              <a:off x="682963" y="4045280"/>
              <a:ext cx="4676729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Magnetometer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Measure magnetic field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Determine </a:t>
              </a:r>
              <a:r>
                <a:rPr lang="en-US" b="1" dirty="0"/>
                <a:t>yaw</a:t>
              </a:r>
              <a:r>
                <a:rPr lang="en-US" dirty="0"/>
                <a:t> from Earth’s magnetic field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Cons: easily disturbed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CC8FAFB5-3D9C-4E56-5BA9-05E10D8D017D}"/>
                </a:ext>
              </a:extLst>
            </p:cNvPr>
            <p:cNvSpPr txBox="1"/>
            <p:nvPr/>
          </p:nvSpPr>
          <p:spPr>
            <a:xfrm>
              <a:off x="682963" y="5352590"/>
              <a:ext cx="264803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/>
                <a:t>Fusion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Complementary Filter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Mahony Filter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…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735745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A8CCF-508F-6D35-3484-C7933A8B0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5996E3F-E3B8-88FB-7618-F09BCE8AC519}"/>
              </a:ext>
            </a:extLst>
          </p:cNvPr>
          <p:cNvSpPr txBox="1"/>
          <p:nvPr/>
        </p:nvSpPr>
        <p:spPr>
          <a:xfrm>
            <a:off x="239338" y="171834"/>
            <a:ext cx="474892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Signal Processing: </a:t>
            </a:r>
            <a:r>
              <a:rPr lang="en-US" sz="2400" dirty="0"/>
              <a:t>PID Controller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DA96120-239F-2C4C-810A-6DFC303BE0E1}"/>
                  </a:ext>
                </a:extLst>
              </p:cNvPr>
              <p:cNvSpPr txBox="1"/>
              <p:nvPr/>
            </p:nvSpPr>
            <p:spPr>
              <a:xfrm>
                <a:off x="668923" y="633499"/>
                <a:ext cx="8236165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b="1" dirty="0"/>
                  <a:t>Error term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e(t)</a:t>
                </a:r>
                <a:r>
                  <a:rPr lang="en-US" b="1" dirty="0">
                    <a:cs typeface="Times New Roman" panose="02020603050405020304" pitchFamily="18" charset="0"/>
                  </a:rPr>
                  <a:t>: </a:t>
                </a:r>
                <a:r>
                  <a:rPr lang="en-US" dirty="0">
                    <a:cs typeface="Times New Roman" panose="02020603050405020304" pitchFamily="18" charset="0"/>
                  </a:rPr>
                  <a:t>difference between </a:t>
                </a:r>
                <a:r>
                  <a:rPr lang="en-US" dirty="0"/>
                  <a:t>the </a:t>
                </a:r>
                <a:r>
                  <a:rPr lang="en-US" b="1" dirty="0"/>
                  <a:t>current state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S(t) </a:t>
                </a:r>
                <a:r>
                  <a:rPr lang="en-US" dirty="0"/>
                  <a:t>and the </a:t>
                </a:r>
                <a:r>
                  <a:rPr lang="en-US" b="1" dirty="0"/>
                  <a:t>desired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dirty="0"/>
              </a:p>
              <a:p>
                <a:r>
                  <a:rPr lang="en-US" b="1" dirty="0"/>
                  <a:t>Output </a:t>
                </a:r>
                <a:r>
                  <a:rPr lang="en-US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u(t)</a:t>
                </a:r>
                <a:r>
                  <a:rPr lang="en-US" b="1" dirty="0"/>
                  <a:t>: </a:t>
                </a:r>
                <a:r>
                  <a:rPr lang="en-US" dirty="0"/>
                  <a:t>used to drive the current state toward the desired state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DA96120-239F-2C4C-810A-6DFC303BE0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23" y="633499"/>
                <a:ext cx="8236165" cy="646331"/>
              </a:xfrm>
              <a:prstGeom prst="rect">
                <a:avLst/>
              </a:prstGeom>
              <a:blipFill>
                <a:blip r:embed="rId2"/>
                <a:stretch>
                  <a:fillRect l="-666" t="-6604" b="-150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E6984F-F703-4B61-16F2-D703E91CFE25}"/>
                  </a:ext>
                </a:extLst>
              </p:cNvPr>
              <p:cNvSpPr txBox="1"/>
              <p:nvPr/>
            </p:nvSpPr>
            <p:spPr>
              <a:xfrm>
                <a:off x="668923" y="1279830"/>
                <a:ext cx="4834785" cy="61940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  <m:r>
                        <a:rPr lang="en-US" i="1" smtClean="0">
                          <a:latin typeface="Cambria Math" panose="02040503050406030204" pitchFamily="18" charset="0"/>
                        </a:rPr>
                        <m:t> </m:t>
                      </m:r>
                      <m:r>
                        <a:rPr lang="en-US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BE6984F-F703-4B61-16F2-D703E91CFE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8923" y="1279830"/>
                <a:ext cx="4834785" cy="61940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81F87298-27EE-66C8-F510-19A7D0322BEB}"/>
              </a:ext>
            </a:extLst>
          </p:cNvPr>
          <p:cNvGrpSpPr/>
          <p:nvPr/>
        </p:nvGrpSpPr>
        <p:grpSpPr>
          <a:xfrm>
            <a:off x="668923" y="1899230"/>
            <a:ext cx="11287839" cy="1177690"/>
            <a:chOff x="668400" y="2353774"/>
            <a:chExt cx="11287839" cy="1177690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7D5DD13-B7E1-293D-0D44-85BEA63D3FFA}"/>
                    </a:ext>
                  </a:extLst>
                </p:cNvPr>
                <p:cNvSpPr txBox="1"/>
                <p:nvPr/>
              </p:nvSpPr>
              <p:spPr>
                <a:xfrm>
                  <a:off x="668400" y="2355308"/>
                  <a:ext cx="2485451" cy="1176156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b="1" dirty="0"/>
                    <a:t>Proportional 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𝑝</m:t>
                          </m:r>
                        </m:sub>
                      </m:sSub>
                      <m:r>
                        <a:rPr lang="en-US" b="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a14:m>
                  <a:endParaRPr lang="en-US" b="1" dirty="0"/>
                </a:p>
                <a:p>
                  <a:r>
                    <a:rPr lang="en-US" b="1" dirty="0"/>
                    <a:t>Integral 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nary>
                        <m:nary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</m:sup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</m:d>
                    </m:oMath>
                  </a14:m>
                  <a:endParaRPr lang="en-US" dirty="0"/>
                </a:p>
                <a:p>
                  <a:r>
                    <a:rPr lang="en-US" b="1" dirty="0"/>
                    <a:t>Derivative 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𝑑𝑒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6" name="TextBox 5">
                  <a:extLst>
                    <a:ext uri="{FF2B5EF4-FFF2-40B4-BE49-F238E27FC236}">
                      <a16:creationId xmlns:a16="http://schemas.microsoft.com/office/drawing/2014/main" id="{A7D5DD13-B7E1-293D-0D44-85BEA63D3F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400" y="2355308"/>
                  <a:ext cx="2485451" cy="1176156"/>
                </a:xfrm>
                <a:prstGeom prst="rect">
                  <a:avLst/>
                </a:prstGeom>
                <a:blipFill>
                  <a:blip r:embed="rId4"/>
                  <a:stretch>
                    <a:fillRect l="-2211" t="-17098" b="-321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0445F2-D0CD-011C-845D-914AADF93D5D}"/>
                </a:ext>
              </a:extLst>
            </p:cNvPr>
            <p:cNvSpPr txBox="1"/>
            <p:nvPr/>
          </p:nvSpPr>
          <p:spPr>
            <a:xfrm>
              <a:off x="3000950" y="2353774"/>
              <a:ext cx="640329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the larger the error is, the large the output is to restore the state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1E7731D-86DF-0E35-DEC1-486C2D40EAFE}"/>
                </a:ext>
              </a:extLst>
            </p:cNvPr>
            <p:cNvSpPr txBox="1"/>
            <p:nvPr/>
          </p:nvSpPr>
          <p:spPr>
            <a:xfrm>
              <a:off x="3000950" y="2723106"/>
              <a:ext cx="895528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longer the error persists, the large the output is to further restore the state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AEDD58B-8F32-6919-6044-1E4218E17656}"/>
                </a:ext>
              </a:extLst>
            </p:cNvPr>
            <p:cNvSpPr txBox="1"/>
            <p:nvPr/>
          </p:nvSpPr>
          <p:spPr>
            <a:xfrm>
              <a:off x="3000950" y="3092438"/>
              <a:ext cx="7953439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/>
                <a:t>the faster the error decreases, the smaller the output is to reduce oscillation</a:t>
              </a:r>
            </a:p>
          </p:txBody>
        </p:sp>
      </p:grpSp>
      <p:pic>
        <p:nvPicPr>
          <p:cNvPr id="17" name="Graphic 16">
            <a:extLst>
              <a:ext uri="{FF2B5EF4-FFF2-40B4-BE49-F238E27FC236}">
                <a16:creationId xmlns:a16="http://schemas.microsoft.com/office/drawing/2014/main" id="{74ACBF59-7346-D9D6-C0E3-2DDB7CEB9E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3845" y="3429000"/>
            <a:ext cx="2028406" cy="2285166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459D984A-53D4-C123-BEE0-1E801384AF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54141" y="3067441"/>
            <a:ext cx="1206773" cy="2952742"/>
          </a:xfrm>
          <a:prstGeom prst="rect">
            <a:avLst/>
          </a:prstGeom>
        </p:spPr>
      </p:pic>
      <p:pic>
        <p:nvPicPr>
          <p:cNvPr id="21" name="Graphic 20">
            <a:extLst>
              <a:ext uri="{FF2B5EF4-FFF2-40B4-BE49-F238E27FC236}">
                <a16:creationId xmlns:a16="http://schemas.microsoft.com/office/drawing/2014/main" id="{5BAB5100-F933-9444-7CBE-5BB849B65C3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62804" y="3221496"/>
            <a:ext cx="1951378" cy="2798687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7E921F-8F61-24B6-502D-98052824FAF7}"/>
                  </a:ext>
                </a:extLst>
              </p:cNvPr>
              <p:cNvSpPr txBox="1"/>
              <p:nvPr/>
            </p:nvSpPr>
            <p:spPr>
              <a:xfrm>
                <a:off x="911475" y="6204447"/>
                <a:ext cx="1653145" cy="39074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3A7E921F-8F61-24B6-502D-98052824FA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475" y="6204447"/>
                <a:ext cx="1653145" cy="390748"/>
              </a:xfrm>
              <a:prstGeom prst="rect">
                <a:avLst/>
              </a:prstGeom>
              <a:blipFill>
                <a:blip r:embed="rId8"/>
                <a:stretch>
                  <a:fillRect l="-3321"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5CC882-F235-B95B-8EDC-E8A443EC962C}"/>
                  </a:ext>
                </a:extLst>
              </p:cNvPr>
              <p:cNvSpPr txBox="1"/>
              <p:nvPr/>
            </p:nvSpPr>
            <p:spPr>
              <a:xfrm>
                <a:off x="4269509" y="6222354"/>
                <a:ext cx="97603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𝑑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75CC882-F235-B95B-8EDC-E8A443EC96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69509" y="6222354"/>
                <a:ext cx="976036" cy="369332"/>
              </a:xfrm>
              <a:prstGeom prst="rect">
                <a:avLst/>
              </a:prstGeom>
              <a:blipFill>
                <a:blip r:embed="rId9"/>
                <a:stretch>
                  <a:fillRect l="-5000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6350EB-230B-F4E3-17E1-00DC8C86399C}"/>
                  </a:ext>
                </a:extLst>
              </p:cNvPr>
              <p:cNvSpPr txBox="1"/>
              <p:nvPr/>
            </p:nvSpPr>
            <p:spPr>
              <a:xfrm>
                <a:off x="7014919" y="6222354"/>
                <a:ext cx="928396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Tune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𝐾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56350EB-230B-F4E3-17E1-00DC8C8639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4919" y="6222354"/>
                <a:ext cx="928396" cy="369332"/>
              </a:xfrm>
              <a:prstGeom prst="rect">
                <a:avLst/>
              </a:prstGeom>
              <a:blipFill>
                <a:blip r:embed="rId10"/>
                <a:stretch>
                  <a:fillRect l="-5921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Arrow: Right 24">
            <a:extLst>
              <a:ext uri="{FF2B5EF4-FFF2-40B4-BE49-F238E27FC236}">
                <a16:creationId xmlns:a16="http://schemas.microsoft.com/office/drawing/2014/main" id="{CA034DB5-BA5F-2F52-62EF-364BBF96164B}"/>
              </a:ext>
            </a:extLst>
          </p:cNvPr>
          <p:cNvSpPr/>
          <p:nvPr/>
        </p:nvSpPr>
        <p:spPr>
          <a:xfrm>
            <a:off x="3181733" y="4377920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0ADC5D8C-EE50-F62F-305E-2C3F9F1BE95E}"/>
              </a:ext>
            </a:extLst>
          </p:cNvPr>
          <p:cNvSpPr/>
          <p:nvPr/>
        </p:nvSpPr>
        <p:spPr>
          <a:xfrm>
            <a:off x="5796555" y="437791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Arrow: Right 26">
            <a:extLst>
              <a:ext uri="{FF2B5EF4-FFF2-40B4-BE49-F238E27FC236}">
                <a16:creationId xmlns:a16="http://schemas.microsoft.com/office/drawing/2014/main" id="{1D9AD828-7B8C-CA20-E85F-321E9D598327}"/>
              </a:ext>
            </a:extLst>
          </p:cNvPr>
          <p:cNvSpPr/>
          <p:nvPr/>
        </p:nvSpPr>
        <p:spPr>
          <a:xfrm>
            <a:off x="8714182" y="4377919"/>
            <a:ext cx="542925" cy="331783"/>
          </a:xfrm>
          <a:prstGeom prst="rightArrow">
            <a:avLst/>
          </a:prstGeom>
          <a:ln w="5715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F87FF0-8DD0-45CF-1123-1F6313CE8372}"/>
                  </a:ext>
                </a:extLst>
              </p:cNvPr>
              <p:cNvSpPr txBox="1"/>
              <p:nvPr/>
            </p:nvSpPr>
            <p:spPr>
              <a:xfrm>
                <a:off x="9727121" y="4138591"/>
                <a:ext cx="2229641" cy="9644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Tune and find better combination of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b="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b="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0F87FF0-8DD0-45CF-1123-1F6313CE8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7121" y="4138591"/>
                <a:ext cx="2229641" cy="964495"/>
              </a:xfrm>
              <a:prstGeom prst="rect">
                <a:avLst/>
              </a:prstGeom>
              <a:blipFill>
                <a:blip r:embed="rId11"/>
                <a:stretch>
                  <a:fillRect l="-2466" t="-3165" r="-548" b="-6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75973834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80B3C-C1BC-7466-2122-3A16AB33B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C1ACD7-5C37-57DA-D56B-549AD6CEDA40}"/>
              </a:ext>
            </a:extLst>
          </p:cNvPr>
          <p:cNvSpPr txBox="1"/>
          <p:nvPr/>
        </p:nvSpPr>
        <p:spPr>
          <a:xfrm>
            <a:off x="239338" y="171834"/>
            <a:ext cx="204921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Control Logic</a:t>
            </a:r>
            <a:endParaRPr lang="en-US" sz="2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18FD55F3-7D53-069A-36FE-E3DD4A5FC02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149482" y="1357333"/>
            <a:ext cx="7893036" cy="1678743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094B6E2-2777-E721-7B94-26D4F0D743C9}"/>
              </a:ext>
            </a:extLst>
          </p:cNvPr>
          <p:cNvSpPr txBox="1"/>
          <p:nvPr/>
        </p:nvSpPr>
        <p:spPr>
          <a:xfrm>
            <a:off x="920447" y="3480532"/>
            <a:ext cx="456368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b="1" dirty="0"/>
              <a:t>Read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pitch, yaw,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acceleration in the world frame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9C49D1-5895-EBA0-D4F1-CA81E8B68D7A}"/>
              </a:ext>
            </a:extLst>
          </p:cNvPr>
          <p:cNvSpPr txBox="1"/>
          <p:nvPr/>
        </p:nvSpPr>
        <p:spPr>
          <a:xfrm>
            <a:off x="920447" y="5125318"/>
            <a:ext cx="474283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Check States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Determine whether the pitch is recoverable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Estimate the perturbation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21A3A14-89CE-2CBC-3329-F1EB11475297}"/>
              </a:ext>
            </a:extLst>
          </p:cNvPr>
          <p:cNvSpPr txBox="1"/>
          <p:nvPr/>
        </p:nvSpPr>
        <p:spPr>
          <a:xfrm>
            <a:off x="7093743" y="3480532"/>
            <a:ext cx="4177810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Feedback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Calculate the output of PID controller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other feedback logics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B0398E-4D69-F3B2-58F3-AA2B62240814}"/>
              </a:ext>
            </a:extLst>
          </p:cNvPr>
          <p:cNvSpPr txBox="1"/>
          <p:nvPr/>
        </p:nvSpPr>
        <p:spPr>
          <a:xfrm>
            <a:off x="7093743" y="5125318"/>
            <a:ext cx="39637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Take Action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Further adjust the controller output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 the motors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5854593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98D03-2696-7F65-242E-FF86BD30E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034B3A6-499C-1EC4-0A24-1E2331F925A3}"/>
              </a:ext>
            </a:extLst>
          </p:cNvPr>
          <p:cNvSpPr txBox="1"/>
          <p:nvPr/>
        </p:nvSpPr>
        <p:spPr>
          <a:xfrm>
            <a:off x="239338" y="171834"/>
            <a:ext cx="255332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Current Progress</a:t>
            </a:r>
            <a:endParaRPr lang="en-US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58C7967-72BD-7997-698D-D99E9257A6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1106120"/>
                  </p:ext>
                </p:extLst>
              </p:nvPr>
            </p:nvGraphicFramePr>
            <p:xfrm>
              <a:off x="1044156" y="633497"/>
              <a:ext cx="5373687" cy="336777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147914">
                      <a:extLst>
                        <a:ext uri="{9D8B030D-6E8A-4147-A177-3AD203B41FA5}">
                          <a16:colId xmlns:a16="http://schemas.microsoft.com/office/drawing/2014/main" val="2747036432"/>
                        </a:ext>
                      </a:extLst>
                    </a:gridCol>
                    <a:gridCol w="1225773">
                      <a:extLst>
                        <a:ext uri="{9D8B030D-6E8A-4147-A177-3AD203B41FA5}">
                          <a16:colId xmlns:a16="http://schemas.microsoft.com/office/drawing/2014/main" val="201433554"/>
                        </a:ext>
                      </a:extLst>
                    </a:gridCol>
                  </a:tblGrid>
                  <a:tr h="3367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Evaluation 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Rough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3833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Balancing Time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smtClean="0">
                                    <a:latin typeface="Cambria Math" panose="02040503050406030204" pitchFamily="18" charset="0"/>
                                  </a:rPr>
                                  <m:t>∼∞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90056767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Pitch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3.5</m:t>
                                    </m:r>
                                  </m:e>
                                  <m:sup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26553462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in 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1s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≈0.15 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6437665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Min Pitch to Drive Motors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0.4</m:t>
                                    </m:r>
                                  </m:e>
                                  <m:sup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95221579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Perturbation Reaction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≪0.2 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5906466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Allowed Perturbation Pitch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sSup>
                                  <m:sSupPr>
                                    <m:ctrlP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13</m:t>
                                    </m:r>
                                  </m:e>
                                  <m:sup>
                                    <m:r>
                                      <a:rPr lang="en-US" sz="1400" i="1" smtClean="0">
                                        <a:latin typeface="Cambria Math" panose="02040503050406030204" pitchFamily="18" charset="0"/>
                                      </a:rPr>
                                      <m:t>∘</m:t>
                                    </m:r>
                                  </m:sup>
                                </m:sSup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87097926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≈1.5 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42482882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by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≈1 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48140178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Yaw Perturbation of </a:t>
                          </a:r>
                          <a14:m>
                            <m:oMath xmlns:m="http://schemas.openxmlformats.org/officeDocument/2006/math">
                              <m:sSup>
                                <m:sSupPr>
                                  <m:ctrlPr>
                                    <a:rPr lang="en-US" sz="14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</m:ctrlPr>
                                </m:sSupPr>
                                <m:e>
                                  <m:r>
                                    <a:rPr lang="en-US" sz="14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180</m:t>
                                  </m:r>
                                </m:e>
                                <m:sup>
                                  <m:r>
                                    <a:rPr lang="en-US" sz="1400" b="0" i="1" kern="1200" dirty="0" smtClean="0">
                                      <a:solidFill>
                                        <a:schemeClr val="dk1"/>
                                      </a:solidFill>
                                      <a:effectLst/>
                                      <a:latin typeface="Cambria Math" panose="02040503050406030204" pitchFamily="18" charset="0"/>
                                      <a:ea typeface="+mn-ea"/>
                                      <a:cs typeface="+mn-cs"/>
                                    </a:rPr>
                                    <m:t>∘</m:t>
                                  </m:r>
                                </m:sup>
                              </m:sSup>
                            </m:oMath>
                          </a14:m>
                          <a:endParaRPr lang="en-US" sz="1400" b="0" kern="1200" dirty="0">
                            <a:solidFill>
                              <a:schemeClr val="dk1"/>
                            </a:solidFill>
                            <a:effectLst/>
                            <a:latin typeface="+mn-lt"/>
                            <a:ea typeface="+mn-ea"/>
                            <a:cs typeface="+mn-cs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≈3 </m:t>
                                </m:r>
                                <m:r>
                                  <a:rPr lang="en-US" sz="140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31623387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558C7967-72BD-7997-698D-D99E9257A6B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091106120"/>
                  </p:ext>
                </p:extLst>
              </p:nvPr>
            </p:nvGraphicFramePr>
            <p:xfrm>
              <a:off x="1044156" y="633497"/>
              <a:ext cx="5373687" cy="336777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147914">
                      <a:extLst>
                        <a:ext uri="{9D8B030D-6E8A-4147-A177-3AD203B41FA5}">
                          <a16:colId xmlns:a16="http://schemas.microsoft.com/office/drawing/2014/main" val="2747036432"/>
                        </a:ext>
                      </a:extLst>
                    </a:gridCol>
                    <a:gridCol w="1225773">
                      <a:extLst>
                        <a:ext uri="{9D8B030D-6E8A-4147-A177-3AD203B41FA5}">
                          <a16:colId xmlns:a16="http://schemas.microsoft.com/office/drawing/2014/main" val="201433554"/>
                        </a:ext>
                      </a:extLst>
                    </a:gridCol>
                  </a:tblGrid>
                  <a:tr h="336777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Evaluation Metric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US" sz="1400" dirty="0"/>
                            <a:t>Rough 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70693833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Balancing Time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100000" r="-1990" b="-8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90056767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Pitch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203636" r="-1990" b="-71454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26553462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in 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Times New Roman" panose="02020603050405020304" pitchFamily="18" charset="0"/>
                              <a:ea typeface="+mn-ea"/>
                              <a:cs typeface="Times New Roman" panose="02020603050405020304" pitchFamily="18" charset="0"/>
                            </a:rPr>
                            <a:t>1s</a:t>
                          </a: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 (no perturbation)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298214" r="-1990" b="-6017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6437665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Min Pitch to Drive Motors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405455" r="-1990" b="-51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95221579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Perturbation Reaction Time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505455" r="-1990" b="-41272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5906466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Allowed Perturbation Pitch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594643" r="-1990" b="-305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87097926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Time to Restore from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707273" r="-1990" b="-21090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42482882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US" sz="1400" b="0" kern="1200" dirty="0">
                              <a:solidFill>
                                <a:schemeClr val="dk1"/>
                              </a:solidFill>
                              <a:effectLst/>
                              <a:latin typeface="+mn-lt"/>
                              <a:ea typeface="+mn-ea"/>
                              <a:cs typeface="+mn-cs"/>
                            </a:rPr>
                            <a:t>Max Displacement by Pitch Perturbation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792857" r="-1990" b="-1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48140178"/>
                      </a:ext>
                    </a:extLst>
                  </a:tr>
                  <a:tr h="336777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147" t="-909091" r="-30103" b="-909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8"/>
                          <a:stretch>
                            <a:fillRect l="-339303" t="-909091" r="-1990" b="-909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31623387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5" name="long_time_balancing">
            <a:hlinkClick r:id="" action="ppaction://media"/>
            <a:extLst>
              <a:ext uri="{FF2B5EF4-FFF2-40B4-BE49-F238E27FC236}">
                <a16:creationId xmlns:a16="http://schemas.microsoft.com/office/drawing/2014/main" id="{37E2D248-EC9E-CBF0-7F25-6D9D7B89AFA9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9"/>
          <a:stretch>
            <a:fillRect/>
          </a:stretch>
        </p:blipFill>
        <p:spPr>
          <a:xfrm>
            <a:off x="7650162" y="249326"/>
            <a:ext cx="3048000" cy="3048000"/>
          </a:xfrm>
          <a:prstGeom prst="rect">
            <a:avLst/>
          </a:prstGeom>
        </p:spPr>
      </p:pic>
      <p:pic>
        <p:nvPicPr>
          <p:cNvPr id="9" name="twisting_yaw">
            <a:hlinkClick r:id="" action="ppaction://media"/>
            <a:extLst>
              <a:ext uri="{FF2B5EF4-FFF2-40B4-BE49-F238E27FC236}">
                <a16:creationId xmlns:a16="http://schemas.microsoft.com/office/drawing/2014/main" id="{B2AB9203-F072-BE81-4F46-6C588626A501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7650162" y="3429000"/>
            <a:ext cx="3048000" cy="3048000"/>
          </a:xfrm>
          <a:prstGeom prst="rect">
            <a:avLst/>
          </a:prstGeom>
        </p:spPr>
      </p:pic>
      <p:pic>
        <p:nvPicPr>
          <p:cNvPr id="10" name="perturbation">
            <a:hlinkClick r:id="" action="ppaction://media"/>
            <a:extLst>
              <a:ext uri="{FF2B5EF4-FFF2-40B4-BE49-F238E27FC236}">
                <a16:creationId xmlns:a16="http://schemas.microsoft.com/office/drawing/2014/main" id="{A5CC725C-B52D-E239-4DC0-1ACA81E9E43F}"/>
              </a:ext>
            </a:extLst>
          </p:cNvPr>
          <p:cNvPicPr>
            <a:picLocks noChangeAspect="1"/>
          </p:cNvPicPr>
          <p:nvPr>
            <a:videoFile r:link="rId6"/>
            <p:extLst>
              <p:ext uri="{DAA4B4D4-6D71-4841-9C94-3DE7FCFB9230}">
                <p14:media xmlns:p14="http://schemas.microsoft.com/office/powerpoint/2010/main" r:embed="rId5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1044154" y="4126011"/>
            <a:ext cx="5373689" cy="2350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30602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66" fill="hold"/>
                                        <p:tgtEl>
                                          <p:spTgt spid="1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20000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" dur="15366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1" repeatCount="indefinite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12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video>
              <p:cMediaNode vol="80000">
                <p:cTn id="13" repeatCount="indefinite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80C7DF-BBB2-4916-BE00-E56CF7B64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16F1AB0-F271-458B-C89B-A96525B12C89}"/>
              </a:ext>
            </a:extLst>
          </p:cNvPr>
          <p:cNvSpPr txBox="1"/>
          <p:nvPr/>
        </p:nvSpPr>
        <p:spPr>
          <a:xfrm>
            <a:off x="239338" y="171834"/>
            <a:ext cx="30758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Project Management</a:t>
            </a:r>
            <a:endParaRPr lang="en-US" sz="2400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D2252602-E60A-7F31-22A0-765F749533A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740106" y="1022351"/>
            <a:ext cx="8711787" cy="382581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B0B69128-18A5-4DF3-BFD0-DC834A7299B6}"/>
              </a:ext>
            </a:extLst>
          </p:cNvPr>
          <p:cNvGrpSpPr/>
          <p:nvPr/>
        </p:nvGrpSpPr>
        <p:grpSpPr>
          <a:xfrm>
            <a:off x="2545052" y="5237013"/>
            <a:ext cx="7101894" cy="945708"/>
            <a:chOff x="2580389" y="5237013"/>
            <a:chExt cx="7101894" cy="94570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AD7B5F4-458F-752E-5061-3CD86EF66C33}"/>
                </a:ext>
              </a:extLst>
            </p:cNvPr>
            <p:cNvSpPr txBox="1"/>
            <p:nvPr/>
          </p:nvSpPr>
          <p:spPr>
            <a:xfrm>
              <a:off x="2580389" y="5237013"/>
              <a:ext cx="2283895" cy="9457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60000"/>
                </a:lnSpc>
              </a:pPr>
              <a:r>
                <a:rPr lang="en-US" b="1" dirty="0"/>
                <a:t>Phase 1 </a:t>
              </a:r>
              <a:r>
                <a:rPr lang="en-US" dirty="0"/>
                <a:t>(Week 7-8)</a:t>
              </a:r>
              <a:r>
                <a:rPr lang="en-US" b="1" dirty="0"/>
                <a:t>: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b="1" dirty="0"/>
                <a:t>Phase 2 </a:t>
              </a:r>
              <a:r>
                <a:rPr lang="en-US" dirty="0"/>
                <a:t>(Week 9-11)</a:t>
              </a:r>
              <a:r>
                <a:rPr lang="en-US" b="1" dirty="0"/>
                <a:t>: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b="1" dirty="0"/>
                <a:t>Phase 3 </a:t>
              </a:r>
              <a:r>
                <a:rPr lang="en-US" dirty="0"/>
                <a:t>(Week 12)</a:t>
              </a:r>
              <a:r>
                <a:rPr lang="en-US" b="1" dirty="0"/>
                <a:t>:</a:t>
              </a:r>
              <a:endParaRPr lang="en-US" dirty="0"/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49503046-A08D-7911-94D6-FDDD4527CAE7}"/>
                </a:ext>
              </a:extLst>
            </p:cNvPr>
            <p:cNvSpPr txBox="1"/>
            <p:nvPr/>
          </p:nvSpPr>
          <p:spPr>
            <a:xfrm>
              <a:off x="4796778" y="5237013"/>
              <a:ext cx="4885505" cy="94570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>
                <a:lnSpc>
                  <a:spcPct val="60000"/>
                </a:lnSpc>
              </a:pPr>
              <a:r>
                <a:rPr lang="en-US" dirty="0"/>
                <a:t>Improve the locking skill and motion skill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dirty="0"/>
                <a:t>Develop the adaption skill and resurrection skill</a:t>
              </a:r>
            </a:p>
            <a:p>
              <a:pPr>
                <a:lnSpc>
                  <a:spcPct val="60000"/>
                </a:lnSpc>
              </a:pPr>
              <a:endParaRPr lang="en-US" dirty="0"/>
            </a:p>
            <a:p>
              <a:pPr>
                <a:lnSpc>
                  <a:spcPct val="60000"/>
                </a:lnSpc>
              </a:pPr>
              <a:r>
                <a:rPr lang="en-US" dirty="0"/>
                <a:t>Do the final improvements based on the tests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3832885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0990A-15C4-952D-5E37-53529CE19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55D8D16-B24A-B2A7-3C8A-977EAC6BAAC8}"/>
              </a:ext>
            </a:extLst>
          </p:cNvPr>
          <p:cNvSpPr txBox="1"/>
          <p:nvPr/>
        </p:nvSpPr>
        <p:spPr>
          <a:xfrm>
            <a:off x="504713" y="5337718"/>
            <a:ext cx="1781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References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6C5321-C0CC-2AB3-BFEC-D494A7669400}"/>
              </a:ext>
            </a:extLst>
          </p:cNvPr>
          <p:cNvSpPr txBox="1"/>
          <p:nvPr/>
        </p:nvSpPr>
        <p:spPr>
          <a:xfrm>
            <a:off x="504713" y="5799383"/>
            <a:ext cx="1118257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[1] Wang, A., &amp; Wang, A. (2026, January 27). Autonomous Mobile Robot (AMR) applications by industry. </a:t>
            </a:r>
            <a:r>
              <a:rPr lang="en-US" sz="1000" dirty="0" err="1"/>
              <a:t>Fdata</a:t>
            </a:r>
            <a:r>
              <a:rPr lang="en-US" sz="1000" dirty="0"/>
              <a:t> Robot. </a:t>
            </a:r>
            <a:r>
              <a:rPr lang="en-US" sz="1000" dirty="0">
                <a:hlinkClick r:id="rId2"/>
              </a:rPr>
              <a:t>https://www.fdatabot.com/autonomous-mobile-robot-amr-applications-by-industry/</a:t>
            </a:r>
            <a:endParaRPr lang="en-US" sz="1000" dirty="0"/>
          </a:p>
          <a:p>
            <a:r>
              <a:rPr lang="en-US" sz="1000" dirty="0"/>
              <a:t>[2] </a:t>
            </a:r>
            <a:r>
              <a:rPr lang="en-US" sz="1000" dirty="0" err="1"/>
              <a:t>Arvindpdmn</a:t>
            </a:r>
            <a:r>
              <a:rPr lang="en-US" sz="1000" dirty="0"/>
              <a:t>, J. R. C. (2022, May 23). Mobile robot. </a:t>
            </a:r>
            <a:r>
              <a:rPr lang="en-US" sz="1000" dirty="0" err="1"/>
              <a:t>Devopedia</a:t>
            </a:r>
            <a:r>
              <a:rPr lang="en-US" sz="1000" dirty="0"/>
              <a:t>. </a:t>
            </a:r>
            <a:r>
              <a:rPr lang="en-US" sz="1000" dirty="0">
                <a:hlinkClick r:id="rId3"/>
              </a:rPr>
              <a:t>https://devopedia.org/mobile-robot</a:t>
            </a:r>
            <a:endParaRPr lang="en-US" sz="1000" dirty="0"/>
          </a:p>
          <a:p>
            <a:r>
              <a:rPr lang="en-US" sz="1000" dirty="0"/>
              <a:t>[3] Quaternions. (n.d.). </a:t>
            </a:r>
            <a:r>
              <a:rPr lang="en-US" sz="1000" dirty="0">
                <a:hlinkClick r:id="rId4"/>
              </a:rPr>
              <a:t>https://ece.montana.edu/seniordesign/archive/SP14/UnderwaterNavigation/Quaternions.html</a:t>
            </a:r>
            <a:endParaRPr lang="en-US" sz="1000" dirty="0"/>
          </a:p>
          <a:p>
            <a:endParaRPr 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F8E1C39-25B4-04D9-35AB-7171D4EFBFE1}"/>
              </a:ext>
            </a:extLst>
          </p:cNvPr>
          <p:cNvSpPr txBox="1"/>
          <p:nvPr/>
        </p:nvSpPr>
        <p:spPr>
          <a:xfrm>
            <a:off x="3065388" y="2659559"/>
            <a:ext cx="606122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400" b="1" dirty="0"/>
              <a:t>Thank you for listening!</a:t>
            </a:r>
          </a:p>
        </p:txBody>
      </p:sp>
    </p:spTree>
    <p:extLst>
      <p:ext uri="{BB962C8B-B14F-4D97-AF65-F5344CB8AC3E}">
        <p14:creationId xmlns:p14="http://schemas.microsoft.com/office/powerpoint/2010/main" val="8506882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p14:dur="300">
        <p159:morph option="byObject"/>
      </p:transition>
    </mc:Choice>
    <mc:Fallback>
      <p:transition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1067</TotalTime>
  <Words>828</Words>
  <Application>Microsoft Office PowerPoint</Application>
  <PresentationFormat>Widescreen</PresentationFormat>
  <Paragraphs>156</Paragraphs>
  <Slides>11</Slides>
  <Notes>1</Notes>
  <HiddenSlides>0</HiddenSlides>
  <MMClips>3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Zhihao Lin</dc:creator>
  <cp:lastModifiedBy>Zhihao Lin</cp:lastModifiedBy>
  <cp:revision>22</cp:revision>
  <dcterms:created xsi:type="dcterms:W3CDTF">2026-04-13T06:43:31Z</dcterms:created>
  <dcterms:modified xsi:type="dcterms:W3CDTF">2026-04-17T08:34:10Z</dcterms:modified>
</cp:coreProperties>
</file>